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016c38f9794e63" /><Relationship Type="http://schemas.openxmlformats.org/officeDocument/2006/relationships/extended-properties" Target="/docProps/app.xml" Id="Rdef42c7333e444e6" /><Relationship Type="http://schemas.openxmlformats.org/officeDocument/2006/relationships/officeDocument" Target="/ppt/presentation.xml" Id="Ra8fbe26839fc4d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3c15602a8541e3"/>
  </p:sldMasterIdLst>
  <p:notesMasterIdLst>
    <p:notesMasterId xmlns:r="http://schemas.openxmlformats.org/officeDocument/2006/relationships" r:id="R5cf0c29f9cc14667"/>
  </p:notesMasterIdLst>
  <p:sldIdLst>
    <p:sldId xmlns:r="http://schemas.openxmlformats.org/officeDocument/2006/relationships" id="256" r:id="R7cd980fb18464f32"/>
    <p:sldId xmlns:r="http://schemas.openxmlformats.org/officeDocument/2006/relationships" id="257" r:id="Rfe79f0bb361549b1"/>
    <p:sldId xmlns:r="http://schemas.openxmlformats.org/officeDocument/2006/relationships" id="258" r:id="Rb93270b063384cdf"/>
    <p:sldId xmlns:r="http://schemas.openxmlformats.org/officeDocument/2006/relationships" id="259" r:id="R309532fc6034436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f75a69b2d84a14" /><Relationship Type="http://schemas.openxmlformats.org/officeDocument/2006/relationships/slideMaster" Target="/ppt/slideMasters/slideMaster1.xml" Id="R523c15602a8541e3" /><Relationship Type="http://schemas.openxmlformats.org/officeDocument/2006/relationships/notesMaster" Target="/ppt/notesMasters/notesMaster1.xml" Id="R5cf0c29f9cc14667" /><Relationship Type="http://schemas.openxmlformats.org/officeDocument/2006/relationships/presProps" Target="/ppt/presProps.xml" Id="R8966b86fe5894cfe" /><Relationship Type="http://schemas.openxmlformats.org/officeDocument/2006/relationships/tableStyles" Target="/ppt/tableStyles.xml" Id="R79fb3c3e4ec24f22" /><Relationship Type="http://schemas.openxmlformats.org/officeDocument/2006/relationships/slide" Target="/ppt/slides/slide1.xml" Id="R7cd980fb18464f32" /><Relationship Type="http://schemas.openxmlformats.org/officeDocument/2006/relationships/slide" Target="/ppt/slides/slide2.xml" Id="Rfe79f0bb361549b1" /><Relationship Type="http://schemas.openxmlformats.org/officeDocument/2006/relationships/slide" Target="/ppt/slides/slide3.xml" Id="Rb93270b063384cdf" /><Relationship Type="http://schemas.openxmlformats.org/officeDocument/2006/relationships/slide" Target="/ppt/slides/slide4.xml" Id="R309532fc603443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58f96d037646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CI Arch Theme">
  <a:themeElements>
    <a:clrScheme name="OCI Arch">
      <a:dk1>
        <a:sysClr val="windowText" lastClr="000000"/>
      </a:dk1>
      <a:lt1>
        <a:sysClr val="window" lastClr="FFFFFF"/>
      </a:lt1>
      <a:dk2>
        <a:srgbClr val="1F2937"/>
      </a:dk2>
      <a:lt2>
        <a:srgbClr val="F8FAFC"/>
      </a:lt2>
      <a:accent1>
        <a:srgbClr val="C74634"/>
      </a:accent1>
      <a:accent2>
        <a:srgbClr val="1F4E79"/>
      </a:accent2>
      <a:accent3>
        <a:srgbClr val="2E7D32"/>
      </a:accent3>
      <a:accent4>
        <a:srgbClr val="AD6800"/>
      </a:accent4>
      <a:accent5>
        <a:srgbClr val="0E7490"/>
      </a:accent5>
      <a:accent6>
        <a:srgbClr val="7C3AED"/>
      </a:accent6>
      <a:hlink>
        <a:srgbClr val="2563EB"/>
      </a:hlink>
      <a:folHlink>
        <a:srgbClr val="9333EA"/>
      </a:folHlink>
    </a:clrScheme>
    <a:fontScheme name="OCI Arch">
      <a:majorFont>
        <a:latin typeface="Aptos Display"/>
        <a:ea typeface="Malgun Gothic"/>
        <a:cs typeface="Arial"/>
      </a:majorFont>
      <a:minorFont>
        <a:latin typeface="Aptos"/>
        <a:ea typeface="Malgun Gothic"/>
        <a:cs typeface="Arial"/>
      </a:minorFont>
    </a:fontScheme>
    <a:fmtScheme name="OCI Arc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</a:schemeClr>
            </a:gs>
            <a:gs pos="100000">
              <a:schemeClr val="phClr">
                <a:lumMod val="105000"/>
                <a:sat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08000"/>
                <a:satMod val="105000"/>
              </a:schemeClr>
            </a:gs>
            <a:gs pos="100000">
              <a:schemeClr val="phClr">
                <a:lumMod val="105000"/>
                <a:satMod val="103000"/>
              </a:schemeClr>
            </a:gs>
          </a:gsLst>
          <a:lin ang="5400000" scaled="0"/>
        </a:gradFill>
      </a:fillStyleLst>
      <a:lnStyleLst>
        <a:ln w="9525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6630a340df43e7" /><Relationship Type="http://schemas.openxmlformats.org/officeDocument/2006/relationships/notesMaster" Target="/ppt/notesMasters/notesMaster1.xml" Id="R2048d5f0efa7406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800a252879b4df0" /><Relationship Type="http://schemas.openxmlformats.org/officeDocument/2006/relationships/notesMaster" Target="/ppt/notesMasters/notesMaster1.xml" Id="R8afc0842a18f44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210f4b112404f9d" /><Relationship Type="http://schemas.openxmlformats.org/officeDocument/2006/relationships/notesMaster" Target="/ppt/notesMasters/notesMaster1.xml" Id="Rd1af31d9ef2a49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6f9f304c264558" /><Relationship Type="http://schemas.openxmlformats.org/officeDocument/2006/relationships/notesMaster" Target="/ppt/notesMasters/notesMaster1.xml" Id="R2862ed87899e46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Oracle Cloud Infrastructure Architecture Diagram Toolkit — https://docs.oracle.com/en-us/iaas/Content/General/Reference/graphicsfordiagrams.htm</a:t>
            </a:r>
          </a:p>
          <a:p xmlns:a="http://schemas.openxmlformats.org/drawingml/2006/main">
            <a:r>
              <a:t>- Repository scope and deployment documents at main commit a7ff4c0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README.md, app/api/plan/route.ts, lib/server/oci-plan-client.ts</a:t>
            </a:r>
          </a:p>
          <a:p xmlns:a="http://schemas.openxmlformats.org/drawingml/2006/main">
            <a:r>
              <a:t>- Repository infra/oci/README.md, docker-compose.yml, pixel-panic-api.service.example</a:t>
            </a:r>
          </a:p>
          <a:p xmlns:a="http://schemas.openxmlformats.org/drawingml/2006/main">
            <a:r>
              <a:t>- Repository backend/Dockerfile and backend/src runtime files</a:t>
            </a:r>
          </a:p>
          <a:p xmlns:a="http://schemas.openxmlformats.org/drawingml/2006/main">
            <a:r>
              <a:t>- Oracle OCI Architecture Diagram Toolkit — https://docs.oracle.com/en-us/iaas/Content/General/Reference/graphicsfordiagrams.htm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source and deployment documents at main commit a7ff4c0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source and deployment documents at main commit a7ff4c0</a:t>
            </a:r>
          </a:p>
          <a:p xmlns:a="http://schemas.openxmlformats.org/drawingml/2006/main">
            <a:r>
              <a:t>- OCI Well-Architected Framework — https://docs.oracle.com/en/solutions/oci-best-practices/index.html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96c73835fa4615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a697be7bff4f4b" /><Relationship Type="http://schemas.openxmlformats.org/officeDocument/2006/relationships/slideLayout" Target="/ppt/slideLayouts/slideLayout1.xml" Id="R7cbc7af1f29f4d2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bc7af1f29f4d24"/>
  </p:sldLayoutIdLst>
</p:sldMaster>
</file>

<file path=ppt/slideMasters/theme/theme2.xml><?xml version="1.0" encoding="utf-8"?>
<a:theme xmlns:a="http://schemas.openxmlformats.org/drawingml/2006/main" name="OCI Arch Theme">
  <a:themeElements>
    <a:clrScheme name="OCI Arch">
      <a:dk1>
        <a:sysClr val="windowText" lastClr="000000"/>
      </a:dk1>
      <a:lt1>
        <a:sysClr val="window" lastClr="FFFFFF"/>
      </a:lt1>
      <a:dk2>
        <a:srgbClr val="1F2937"/>
      </a:dk2>
      <a:lt2>
        <a:srgbClr val="F8FAFC"/>
      </a:lt2>
      <a:accent1>
        <a:srgbClr val="C74634"/>
      </a:accent1>
      <a:accent2>
        <a:srgbClr val="1F4E79"/>
      </a:accent2>
      <a:accent3>
        <a:srgbClr val="2E7D32"/>
      </a:accent3>
      <a:accent4>
        <a:srgbClr val="AD6800"/>
      </a:accent4>
      <a:accent5>
        <a:srgbClr val="0E7490"/>
      </a:accent5>
      <a:accent6>
        <a:srgbClr val="7C3AED"/>
      </a:accent6>
      <a:hlink>
        <a:srgbClr val="2563EB"/>
      </a:hlink>
      <a:folHlink>
        <a:srgbClr val="9333EA"/>
      </a:folHlink>
    </a:clrScheme>
    <a:fontScheme name="OCI Arch">
      <a:majorFont>
        <a:latin typeface="Aptos Display"/>
        <a:ea typeface="Malgun Gothic"/>
        <a:cs typeface="Arial"/>
      </a:majorFont>
      <a:minorFont>
        <a:latin typeface="Aptos"/>
        <a:ea typeface="Malgun Gothic"/>
        <a:cs typeface="Arial"/>
      </a:minorFont>
    </a:fontScheme>
    <a:fmtScheme name="OCI Arc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</a:schemeClr>
            </a:gs>
            <a:gs pos="100000">
              <a:schemeClr val="phClr">
                <a:lumMod val="105000"/>
                <a:sat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08000"/>
                <a:satMod val="105000"/>
              </a:schemeClr>
            </a:gs>
            <a:gs pos="100000">
              <a:schemeClr val="phClr">
                <a:lumMod val="105000"/>
                <a:satMod val="103000"/>
              </a:schemeClr>
            </a:gs>
          </a:gsLst>
          <a:lin ang="5400000" scaled="0"/>
        </a:gradFill>
      </a:fillStyleLst>
      <a:lnStyleLst>
        <a:ln w="9525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6794e94c4c4f5b" /><Relationship Type="http://schemas.openxmlformats.org/officeDocument/2006/relationships/image" Target="/ppt/media/image.png" Id="R091492b2ea094fb7" /><Relationship Type="http://schemas.openxmlformats.org/officeDocument/2006/relationships/image" Target="/ppt/media/image2.png" Id="Rc406c11953c64b4d" /><Relationship Type="http://schemas.openxmlformats.org/officeDocument/2006/relationships/notesSlide" Target="/ppt/notesSlides/notesSlide1.xml" Id="R99cb8812996944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5252b437ca418d" /><Relationship Type="http://schemas.openxmlformats.org/officeDocument/2006/relationships/image" Target="/ppt/media/image3.png" Id="R4434b164381740c5" /><Relationship Type="http://schemas.openxmlformats.org/officeDocument/2006/relationships/image" Target="/ppt/media/image4.png" Id="R9a7e5948d7cb46fb" /><Relationship Type="http://schemas.openxmlformats.org/officeDocument/2006/relationships/image" Target="/ppt/media/image5.png" Id="Re26c10c291e44f0f" /><Relationship Type="http://schemas.openxmlformats.org/officeDocument/2006/relationships/image" Target="/ppt/media/image6.png" Id="R8a95fa06a3204906" /><Relationship Type="http://schemas.openxmlformats.org/officeDocument/2006/relationships/image" Target="/ppt/media/image7.png" Id="R05ca07b1b3824578" /><Relationship Type="http://schemas.openxmlformats.org/officeDocument/2006/relationships/image" Target="/ppt/media/image8.png" Id="R036237e3022a4da6" /><Relationship Type="http://schemas.openxmlformats.org/officeDocument/2006/relationships/notesSlide" Target="/ppt/notesSlides/notesSlide2.xml" Id="R04de243e8458405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04eb39029d41fc" /><Relationship Type="http://schemas.openxmlformats.org/officeDocument/2006/relationships/notesSlide" Target="/ppt/notesSlides/notesSlide3.xml" Id="R7ba4a428ade144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e1335a590e409a" /><Relationship Type="http://schemas.openxmlformats.org/officeDocument/2006/relationships/notesSlide" Target="/ppt/notesSlides/notesSlide4.xml" Id="R582b33e4f85b470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pic>
        <p:nvPicPr>
          <p:cNvPr id="12" name="Oracle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1492b2ea094f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4128" y="1051560"/>
            <a:ext cx="1417320" cy="292608"/>
          </a:xfrm>
          <a:prstGeom xmlns:a="http://schemas.openxmlformats.org/drawingml/2006/main" prst="rect">
            <a:avLst/>
          </a:prstGeom>
        </p:spPr>
      </p:pic>
      <p:pic>
        <p:nvPicPr>
          <p:cNvPr id="13" name="Cover cloud moti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06c11953c64b4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5280" y="384048"/>
            <a:ext cx="3611880" cy="2148840"/>
          </a:xfrm>
          <a:prstGeom xmlns:a="http://schemas.openxmlformats.org/drawingml/2006/main" prst="rect">
            <a:avLst/>
          </a:prstGeom>
        </p:spPr>
      </p:pic>
      <p:sp>
        <p:nvSpPr>
          <p:cNvPr id="5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8858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45720" tIns="45720" rIns="45720" bIns="45720" anchor="ctr">
            <a:normAutofit fontScale="99306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312D2A"/>
                </a:solidFill>
              </a:defRPr>
            </a:pPr>
            <a:r>
              <a:rPr sz="3600" b="1">
                <a:solidFill>
                  <a:srgbClr val="312D2A"/>
                </a:solidFill>
                <a:latin typeface="Aptos"/>
                <a:ea typeface="Aptos"/>
                <a:cs typeface="Aptos"/>
              </a:rPr>
              <a:t>PIXEL PANIC AI Rescue</a:t>
            </a:r>
            <a:endParaRPr sz="3100"/>
          </a:p>
          <a:p xmlns:a="http://schemas.openxmlformats.org/drawingml/2006/main">
            <a:pPr algn="l">
              <a:buNone/>
              <a:defRPr sz="3600" b="1">
                <a:solidFill>
                  <a:srgbClr val="312D2A"/>
                </a:solidFill>
              </a:defRPr>
            </a:pPr>
            <a:r>
              <a:rPr sz="3600" b="1">
                <a:solidFill>
                  <a:srgbClr val="312D2A"/>
                </a:solidFill>
                <a:latin typeface="Aptos"/>
                <a:ea typeface="Aptos"/>
                <a:cs typeface="Aptos"/>
              </a:rPr>
              <a:t>Current Production Architecture</a:t>
            </a:r>
            <a:endParaRPr sz="3100"/>
          </a:p>
        </p:txBody>
      </p:sp>
      <p:sp>
        <p:nvSpPr>
          <p:cNvPr id="6" name="Sub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45720" tIns="45720" rIns="4572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A13C21"/>
                </a:solidFill>
              </a:defRPr>
            </a:pPr>
            <a:r>
              <a:rPr sz="1650" b="0">
                <a:solidFill>
                  <a:srgbClr val="A13C21"/>
                </a:solidFill>
                <a:latin typeface="Aptos"/>
                <a:ea typeface="Aptos"/>
                <a:cs typeface="Aptos"/>
              </a:rPr>
              <a:t>Preliminary deployment · Actual-state documentation</a:t>
            </a:r>
            <a:endParaRPr sz="1700"/>
          </a:p>
        </p:txBody>
      </p:sp>
      <p:sp>
        <p:nvSpPr>
          <p:cNvPr id="7" name="Scop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672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45720" tIns="45720" rIns="45720" bIns="45720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12D2A"/>
                </a:solidFill>
              </a:defRPr>
            </a:pPr>
            <a:r>
              <a:rPr sz="1275" b="1">
                <a:solidFill>
                  <a:srgbClr val="312D2A"/>
                </a:solidFill>
                <a:latin typeface="Aptos"/>
                <a:ea typeface="Aptos"/>
                <a:cs typeface="Aptos"/>
              </a:rPr>
              <a:t>Current preliminary deployment</a:t>
            </a:r>
            <a:endParaRPr sz="1250"/>
          </a:p>
        </p:txBody>
      </p:sp>
      <p:sp>
        <p:nvSpPr>
          <p:cNvPr id="8" name="Deck typ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0062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45720" tIns="45720" rIns="45720" bIns="45720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Actual state · User → Vercel → OCI → OpenAI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81158729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3" name="Diagram 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33350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45720" tIns="45720" rIns="45720" bIns="45720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PIXEL PANIC AI Rescue — Current Production Architecture</a:t>
            </a:r>
            <a:endParaRPr sz="1500"/>
          </a:p>
        </p:txBody>
      </p:sp>
      <p:sp>
        <p:nvSpPr>
          <p:cNvPr id="4" name="Region boundar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723900"/>
            <a:ext cx="5476875" cy="501015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5F4F2"/>
          </a:solidFill>
          <a:ln xmlns:a="http://schemas.openxmlformats.org/drawingml/2006/main" w="12700">
            <a:solidFill>
              <a:srgbClr val="9E9892"/>
            </a:solidFill>
          </a:ln>
        </p:spPr>
      </p:sp>
      <p:sp>
        <p:nvSpPr>
          <p:cNvPr id="5" name="Region boundary label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00100"/>
            <a:ext cx="5000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45720" tIns="45720" rIns="45720" bIns="45720" anchor="ctr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12D2A"/>
                </a:solidFill>
              </a:defRPr>
            </a:pPr>
            <a:r>
              <a:rPr sz="1200" b="1">
                <a:solidFill>
                  <a:srgbClr val="312D2A"/>
                </a:solidFill>
                <a:latin typeface="Aptos"/>
                <a:ea typeface="Aptos"/>
                <a:cs typeface="Aptos"/>
              </a:rPr>
              <a:t>OCI Region</a:t>
            </a:r>
            <a:endParaRPr sz="1100"/>
          </a:p>
        </p:txBody>
      </p:sp>
      <p:sp>
        <p:nvSpPr>
          <p:cNvPr id="6" name="VCN boundar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162050"/>
            <a:ext cx="4714875" cy="421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AE562C"/>
            </a:solidFill>
            <a:prstDash val="dash"/>
          </a:ln>
        </p:spPr>
      </p:sp>
      <p:sp>
        <p:nvSpPr>
          <p:cNvPr id="7" name="VCN boundary label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2382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45720" tIns="45720" rIns="45720" bIns="45720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C74634"/>
                </a:solidFill>
              </a:defRPr>
            </a:pPr>
            <a:r>
              <a:rPr sz="1200" b="1">
                <a:solidFill>
                  <a:srgbClr val="C74634"/>
                </a:solidFill>
                <a:latin typeface="Aptos"/>
                <a:ea typeface="Aptos"/>
                <a:cs typeface="Aptos"/>
              </a:rPr>
              <a:t>PIXEL PANIC VCN</a:t>
            </a:r>
            <a:endParaRPr sz="1100"/>
          </a:p>
        </p:txBody>
      </p:sp>
      <p:pic>
        <p:nvPicPr>
          <p:cNvPr id="75" name="VCN bad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34b164381740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82138" y="1023938"/>
            <a:ext cx="276225" cy="276225"/>
          </a:xfrm>
          <a:prstGeom xmlns:a="http://schemas.openxmlformats.org/drawingml/2006/main" prst="rect">
            <a:avLst/>
          </a:prstGeom>
        </p:spPr>
      </p:pic>
      <p:sp>
        <p:nvSpPr>
          <p:cNvPr id="9" name="Subnet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619250"/>
            <a:ext cx="3952875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AE562C"/>
            </a:solidFill>
            <a:prstDash val="dash"/>
          </a:ln>
        </p:spPr>
      </p:sp>
      <p:sp>
        <p:nvSpPr>
          <p:cNvPr id="10" name="Subnet 1 label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6954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45720" tIns="45720" rIns="45720" bIns="45720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C74634"/>
                </a:solidFill>
              </a:defRPr>
            </a:pPr>
            <a:r>
              <a:rPr sz="1200" b="1">
                <a:solidFill>
                  <a:srgbClr val="C74634"/>
                </a:solidFill>
                <a:latin typeface="Aptos"/>
                <a:ea typeface="Aptos"/>
                <a:cs typeface="Aptos"/>
              </a:rPr>
              <a:t>Public Subnet</a:t>
            </a:r>
            <a:endParaRPr sz="1100"/>
          </a:p>
        </p:txBody>
      </p:sp>
      <p:pic>
        <p:nvPicPr>
          <p:cNvPr id="78" name="Subnet 1 route table bad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7e5948d7cb46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96325" y="1685925"/>
            <a:ext cx="209550" cy="209550"/>
          </a:xfrm>
          <a:prstGeom xmlns:a="http://schemas.openxmlformats.org/drawingml/2006/main" prst="rect">
            <a:avLst/>
          </a:prstGeom>
        </p:spPr>
      </p:pic>
      <p:pic>
        <p:nvPicPr>
          <p:cNvPr id="79" name="Subnet 1 security list bad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6c10c291e44f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63025" y="1685925"/>
            <a:ext cx="209550" cy="209550"/>
          </a:xfrm>
          <a:prstGeom xmlns:a="http://schemas.openxmlformats.org/drawingml/2006/main" prst="rect">
            <a:avLst/>
          </a:prstGeom>
        </p:spPr>
      </p:pic>
      <p:pic>
        <p:nvPicPr>
          <p:cNvPr id="80" name="Icon Use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95fa06a32049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7675" y="2686050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14" name="Label Use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248025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9144" tIns="9144" rIns="9144" bIns="9144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00" b="1">
                <a:solidFill>
                  <a:srgbClr val="164E63"/>
                </a:solidFill>
                <a:latin typeface="Aptos"/>
                <a:ea typeface="Malgun Gothic"/>
                <a:cs typeface="Malgun Gothic"/>
              </a:defRPr>
            </a:pPr>
            <a:r>
              <a:rPr sz="1100" b="1">
                <a:solidFill>
                  <a:srgbClr val="164E63"/>
                </a:solidFill>
                <a:latin typeface="Aptos"/>
                <a:ea typeface="Malgun Gothic"/>
                <a:cs typeface="Malgun Gothic"/>
              </a:rPr>
              <a:t>User Browser</a:t>
            </a:r>
            <a:endParaRPr sz="1100"/>
          </a:p>
        </p:txBody>
      </p:sp>
      <p:pic>
        <p:nvPicPr>
          <p:cNvPr id="82" name="Icon IGW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ca07b1b38245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48200" y="3048000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16" name="Label IGW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004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9144" tIns="9144" rIns="9144" bIns="9144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00" b="1">
                <a:solidFill>
                  <a:srgbClr val="164E63"/>
                </a:solidFill>
                <a:latin typeface="Aptos"/>
                <a:ea typeface="Malgun Gothic"/>
                <a:cs typeface="Malgun Gothic"/>
              </a:defRPr>
            </a:pPr>
            <a:r>
              <a:rPr sz="1100" b="1">
                <a:solidFill>
                  <a:srgbClr val="164E63"/>
                </a:solidFill>
                <a:latin typeface="Aptos"/>
                <a:ea typeface="Malgun Gothic"/>
                <a:cs typeface="Malgun Gothic"/>
              </a:rPr>
              <a:t>IGW</a:t>
            </a:r>
            <a:endParaRPr sz="1100"/>
          </a:p>
        </p:txBody>
      </p:sp>
      <p:pic>
        <p:nvPicPr>
          <p:cNvPr id="84" name="Icon pixel-panic-api-prod-0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6237e3022a4da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76875" y="2524125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20" name="Label pixel-panic-api-prod-0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670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9144" tIns="9144" rIns="9144" bIns="9144" anchor="ctr">
            <a:normAutofit fontScale="9464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00" b="1">
                <a:solidFill>
                  <a:srgbClr val="164E63"/>
                </a:solidFill>
                <a:latin typeface="Aptos"/>
                <a:ea typeface="Malgun Gothic"/>
                <a:cs typeface="Malgun Gothic"/>
              </a:defRPr>
            </a:pPr>
            <a:r>
              <a:rPr sz="1100" b="1">
                <a:solidFill>
                  <a:srgbClr val="164E63"/>
                </a:solidFill>
                <a:latin typeface="Aptos"/>
                <a:ea typeface="Malgun Gothic"/>
                <a:cs typeface="Malgun Gothic"/>
              </a:rPr>
              <a:t>Compute VM</a:t>
            </a:r>
            <a:endParaRPr sz="1100"/>
          </a:p>
        </p:txBody>
      </p:sp>
      <p:sp>
        <p:nvSpPr>
          <p:cNvPr id="21" name="Lege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1143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45720" tIns="45720" rIns="45720" bIns="45720" anchor="ctr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FF0000"/>
                </a:solidFill>
              </a:defRPr>
            </a:pPr>
            <a:r>
              <a:rPr sz="1000" b="0">
                <a:solidFill>
                  <a:srgbClr val="FF0000"/>
                </a:solidFill>
                <a:latin typeface="Aptos"/>
                <a:ea typeface="Aptos"/>
                <a:cs typeface="Aptos"/>
              </a:rPr>
              <a:t>본 문서는 AI 산출물이므로 정확하지 않을 수 있습니다. 반드시 검증 후 사용하십시오.</a:t>
            </a:r>
            <a:endParaRPr sz="1000"/>
          </a:p>
        </p:txBody>
      </p:sp>
      <p:sp>
        <p:nvSpPr>
          <p:cNvPr id="29" name="User Browser boundar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343150"/>
            <a:ext cx="1028700" cy="1352550"/>
          </a:xfrm>
          <a:prstGeom xmlns:a="http://schemas.openxmlformats.org/drawingml/2006/main" prst="roundRect">
            <a:avLst>
              <a:gd name="adj" fmla="val 740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94A3B8"/>
            </a:solidFill>
            <a:prstDash val="solid"/>
          </a:ln>
        </p:spPr>
      </p:sp>
      <p:sp>
        <p:nvSpPr>
          <p:cNvPr id="30" name="Vercel Production boundar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838200"/>
            <a:ext cx="2762250" cy="46291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4288">
            <a:solidFill>
              <a:srgbClr val="2C5967"/>
            </a:solidFill>
            <a:prstDash val="solid"/>
          </a:ln>
        </p:spPr>
      </p:sp>
      <p:sp>
        <p:nvSpPr>
          <p:cNvPr id="31" name="Vercel cloud badg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981075"/>
            <a:ext cx="361950" cy="266700"/>
          </a:xfrm>
          <a:prstGeom xmlns:a="http://schemas.openxmlformats.org/drawingml/2006/main" prst="cloud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369A1"/>
            </a:solidFill>
            <a:prstDash val="solid"/>
          </a:ln>
        </p:spPr>
      </p:sp>
      <p:sp>
        <p:nvSpPr>
          <p:cNvPr id="32" name="Vercel 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2975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4E63"/>
                </a:solidFill>
              </a:defRPr>
            </a:pPr>
            <a:r>
              <a:rPr sz="1425" b="1">
                <a:solidFill>
                  <a:srgbClr val="164E63"/>
                </a:solidFill>
              </a:rPr>
              <a:t>Vercel Production</a:t>
            </a:r>
          </a:p>
        </p:txBody>
      </p:sp>
      <p:sp>
        <p:nvSpPr>
          <p:cNvPr id="33" name="Next.js application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466850"/>
            <a:ext cx="2362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4288">
            <a:solidFill>
              <a:srgbClr val="0284C7"/>
            </a:solidFill>
            <a:prstDash val="solid"/>
          </a:ln>
        </p:spPr>
      </p:sp>
      <p:sp>
        <p:nvSpPr>
          <p:cNvPr id="34" name="Next.js application 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15621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5985"/>
                </a:solidFill>
              </a:defRPr>
            </a:pPr>
            <a:r>
              <a:rPr sz="1350" b="1">
                <a:solidFill>
                  <a:srgbClr val="075985"/>
                </a:solidFill>
              </a:rPr>
              <a:t>Next.js Application</a:t>
            </a:r>
          </a:p>
        </p:txBody>
      </p:sp>
      <p:sp>
        <p:nvSpPr>
          <p:cNvPr id="35" name="Next.js application detail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1857375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C4A6E"/>
                </a:solidFill>
              </a:defRPr>
            </a:pPr>
            <a:r>
              <a:rPr sz="1125" b="0">
                <a:solidFill>
                  <a:srgbClr val="0C4A6E"/>
                </a:solidFill>
              </a:rPr>
              <a:t>React 19 · Phaser game</a:t>
            </a:r>
          </a:p>
        </p:txBody>
      </p:sp>
      <p:sp>
        <p:nvSpPr>
          <p:cNvPr id="36" name="Plan server rout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600325"/>
            <a:ext cx="23622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4288">
            <a:solidFill>
              <a:srgbClr val="7C3AED"/>
            </a:solidFill>
            <a:prstDash val="solid"/>
          </a:ln>
        </p:spPr>
      </p:sp>
      <p:sp>
        <p:nvSpPr>
          <p:cNvPr id="37" name="Plan server route 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7051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21B6"/>
                </a:solidFill>
              </a:defRPr>
            </a:pPr>
            <a:r>
              <a:rPr sz="1350" b="1">
                <a:solidFill>
                  <a:srgbClr val="5B21B6"/>
                </a:solidFill>
              </a:rPr>
              <a:t>/api/plan Server Route</a:t>
            </a:r>
          </a:p>
        </p:txBody>
      </p:sp>
      <p:sp>
        <p:nvSpPr>
          <p:cNvPr id="38" name="Plan server route detail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000375"/>
            <a:ext cx="2076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21B6"/>
                </a:solidFill>
              </a:defRPr>
            </a:pPr>
            <a:r>
              <a:rPr sz="1050" b="0">
                <a:solidFill>
                  <a:srgbClr val="5B21B6"/>
                </a:solidFill>
              </a:rPr>
              <a:t>Validation proxy · request ID</a:t>
            </a:r>
          </a:p>
        </p:txBody>
      </p:sp>
      <p:sp>
        <p:nvSpPr>
          <p:cNvPr id="39" name="Vercel server-only secre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314700"/>
            <a:ext cx="20764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14288">
            <a:solidFill>
              <a:srgbClr val="A78BFA"/>
            </a:solidFill>
            <a:prstDash val="solid"/>
          </a:ln>
        </p:spPr>
      </p:sp>
      <p:sp>
        <p:nvSpPr>
          <p:cNvPr id="40" name="Vercel server-only secret label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33375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Server-only OCI token</a:t>
            </a:r>
          </a:p>
        </p:txBody>
      </p:sp>
      <p:sp>
        <p:nvSpPr>
          <p:cNvPr id="41" name="LOCAL fallback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105275"/>
            <a:ext cx="2362200" cy="981075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4288">
            <a:solidFill>
              <a:srgbClr val="D97706"/>
            </a:solidFill>
            <a:prstDash val="solid"/>
          </a:ln>
        </p:spPr>
      </p:sp>
      <p:sp>
        <p:nvSpPr>
          <p:cNvPr id="42" name="LOCAL fallback 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200525"/>
            <a:ext cx="2076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A3412"/>
                </a:solidFill>
              </a:defRPr>
            </a:pPr>
            <a:r>
              <a:rPr sz="1350" b="1">
                <a:solidFill>
                  <a:srgbClr val="9A3412"/>
                </a:solidFill>
              </a:rPr>
              <a:t>LOCAL Fallback</a:t>
            </a:r>
          </a:p>
        </p:txBody>
      </p:sp>
      <p:sp>
        <p:nvSpPr>
          <p:cNvPr id="43" name="LOCAL fallback detail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476750"/>
            <a:ext cx="2076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A3412"/>
                </a:solidFill>
              </a:defRPr>
            </a:pPr>
            <a:r>
              <a:rPr sz="975" b="0">
                <a:solidFill>
                  <a:srgbClr val="9A3412"/>
                </a:solidFill>
              </a:rPr>
              <a:t>Same response schema</a:t>
            </a:r>
          </a:p>
          <a:p xmlns:a="http://schemas.openxmlformats.org/drawingml/2006/main">
            <a:pPr algn="l">
              <a:defRPr sz="975" b="0">
                <a:solidFill>
                  <a:srgbClr val="9A3412"/>
                </a:solidFill>
              </a:defRPr>
            </a:pPr>
            <a:r>
              <a:rPr sz="975" b="0">
                <a:solidFill>
                  <a:srgbClr val="9A3412"/>
                </a:solidFill>
              </a:rPr>
              <a:t>Timeout · unavailable · 429 · 5xx · invalid schema</a:t>
            </a:r>
          </a:p>
        </p:txBody>
      </p:sp>
      <p:sp>
        <p:nvSpPr>
          <p:cNvPr id="44" name="Compute VM host boundar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38350"/>
            <a:ext cx="2857500" cy="2781300"/>
          </a:xfrm>
          <a:prstGeom xmlns:a="http://schemas.openxmlformats.org/drawingml/2006/main" prst="roundRect">
            <a:avLst>
              <a:gd name="adj" fmla="val 2740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456575"/>
            </a:solidFill>
            <a:prstDash val="solid"/>
          </a:ln>
        </p:spPr>
      </p:sp>
      <p:sp>
        <p:nvSpPr>
          <p:cNvPr id="45" name="Compute VM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152650"/>
            <a:ext cx="2066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4E63"/>
                </a:solidFill>
              </a:defRPr>
            </a:pPr>
            <a:r>
              <a:rPr sz="1275" b="1">
                <a:solidFill>
                  <a:srgbClr val="164E63"/>
                </a:solidFill>
              </a:rPr>
              <a:t>pixel-panic-api-prod-01</a:t>
            </a:r>
          </a:p>
        </p:txBody>
      </p:sp>
      <p:sp>
        <p:nvSpPr>
          <p:cNvPr id="46" name="Compute VM host label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419350"/>
            <a:ext cx="2066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Ubuntu 22.04 · Public endpoint</a:t>
            </a:r>
          </a:p>
        </p:txBody>
      </p:sp>
      <p:sp>
        <p:nvSpPr>
          <p:cNvPr id="47" name="Host controls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90850"/>
            <a:ext cx="2476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4288">
            <a:solidFill>
              <a:srgbClr val="94A3B8"/>
            </a:solidFill>
            <a:prstDash val="solid"/>
          </a:ln>
        </p:spPr>
      </p:sp>
      <p:sp>
        <p:nvSpPr>
          <p:cNvPr id="48" name="Host controls label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2895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334155"/>
                </a:solidFill>
              </a:defRPr>
            </a:pPr>
            <a:r>
              <a:rPr sz="900" b="0">
                <a:solidFill>
                  <a:srgbClr val="334155"/>
                </a:solidFill>
              </a:rPr>
              <a:t>UFW + iptables · systemd</a:t>
            </a:r>
          </a:p>
          <a:p xmlns:a="http://schemas.openxmlformats.org/drawingml/2006/main">
            <a:pPr algn="ctr">
              <a:defRPr sz="900" b="0">
                <a:solidFill>
                  <a:srgbClr val="334155"/>
                </a:solidFill>
              </a:defRPr>
            </a:pPr>
            <a:r>
              <a:rPr sz="900" b="0">
                <a:solidFill>
                  <a:srgbClr val="334155"/>
                </a:solidFill>
              </a:rPr>
              <a:t>Docker Compose · healthcheck · restart</a:t>
            </a:r>
          </a:p>
          <a:p xmlns:a="http://schemas.openxmlformats.org/drawingml/2006/main">
            <a:pPr algn="ctr">
              <a:defRPr sz="900" b="0">
                <a:solidFill>
                  <a:srgbClr val="334155"/>
                </a:solidFill>
              </a:defRPr>
            </a:pPr>
            <a:r>
              <a:rPr sz="900" b="0">
                <a:solidFill>
                  <a:srgbClr val="334155"/>
                </a:solidFill>
              </a:rPr>
              <a:t>logs: 10MB × 3</a:t>
            </a:r>
          </a:p>
        </p:txBody>
      </p:sp>
      <p:sp>
        <p:nvSpPr>
          <p:cNvPr id="49" name="pixel-panic-api containe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09975"/>
            <a:ext cx="2476500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14288">
            <a:solidFill>
              <a:srgbClr val="0891B2"/>
            </a:solidFill>
            <a:prstDash val="solid"/>
          </a:ln>
        </p:spPr>
      </p:sp>
      <p:sp>
        <p:nvSpPr>
          <p:cNvPr id="50" name="API container 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57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5E75"/>
                </a:solidFill>
              </a:defRPr>
            </a:pPr>
            <a:r>
              <a:rPr sz="1125" b="1">
                <a:solidFill>
                  <a:srgbClr val="155E75"/>
                </a:solidFill>
              </a:rPr>
              <a:t>pixel-panic-api container</a:t>
            </a:r>
          </a:p>
        </p:txBody>
      </p:sp>
      <p:sp>
        <p:nvSpPr>
          <p:cNvPr id="51" name="API container detail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86200"/>
            <a:ext cx="228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55E75"/>
                </a:solidFill>
              </a:defRPr>
            </a:pPr>
            <a:r>
              <a:rPr sz="900" b="0">
                <a:solidFill>
                  <a:srgbClr val="155E75"/>
                </a:solidFill>
              </a:rPr>
              <a:t>Node.js 20 · Fastify · :8080</a:t>
            </a:r>
          </a:p>
          <a:p xmlns:a="http://schemas.openxmlformats.org/drawingml/2006/main">
            <a:pPr algn="ctr">
              <a:defRPr sz="900" b="0">
                <a:solidFill>
                  <a:srgbClr val="155E75"/>
                </a:solidFill>
              </a:defRPr>
            </a:pPr>
            <a:r>
              <a:rPr sz="900" b="0">
                <a:solidFill>
                  <a:srgbClr val="155E75"/>
                </a:solidFill>
              </a:rPr>
              <a:t>/health · /v1/plan</a:t>
            </a:r>
          </a:p>
          <a:p xmlns:a="http://schemas.openxmlformats.org/drawingml/2006/main">
            <a:pPr algn="ctr">
              <a:defRPr sz="900" b="0">
                <a:solidFill>
                  <a:srgbClr val="155E75"/>
                </a:solidFill>
              </a:defRPr>
            </a:pPr>
            <a:r>
              <a:rPr sz="900" b="0">
                <a:solidFill>
                  <a:srgbClr val="155E75"/>
                </a:solidFill>
              </a:rPr>
              <a:t>Auth · rate limit · cache · request ID logs</a:t>
            </a:r>
          </a:p>
        </p:txBody>
      </p:sp>
      <p:sp>
        <p:nvSpPr>
          <p:cNvPr id="52" name="Server-only Secrets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38650"/>
            <a:ext cx="247650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4288">
            <a:solidFill>
              <a:srgbClr val="C2410C"/>
            </a:solidFill>
            <a:prstDash val="solid"/>
          </a:ln>
        </p:spPr>
      </p:sp>
      <p:sp>
        <p:nvSpPr>
          <p:cNvPr id="53" name="Server-only Secrets label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48175"/>
            <a:ext cx="2362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9A3412"/>
                </a:solidFill>
              </a:defRPr>
            </a:pPr>
            <a:r>
              <a:rPr sz="863" b="1">
                <a:solidFill>
                  <a:srgbClr val="9A3412"/>
                </a:solidFill>
              </a:rPr>
              <a:t>Server-only Secrets</a:t>
            </a:r>
          </a:p>
          <a:p xmlns:a="http://schemas.openxmlformats.org/drawingml/2006/main">
            <a:pPr algn="ctr">
              <a:defRPr sz="863" b="1">
                <a:solidFill>
                  <a:srgbClr val="9A3412"/>
                </a:solidFill>
              </a:defRPr>
            </a:pPr>
            <a:r>
              <a:rPr sz="863" b="1">
                <a:solidFill>
                  <a:srgbClr val="9A3412"/>
                </a:solidFill>
              </a:rPr>
              <a:t>/etc/pixel-panic/backend.env</a:t>
            </a:r>
          </a:p>
        </p:txBody>
      </p:sp>
      <p:sp>
        <p:nvSpPr>
          <p:cNvPr id="54" name="OpenAI API boundar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266950"/>
            <a:ext cx="16192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4288">
            <a:solidFill>
              <a:srgbClr val="059669"/>
            </a:solidFill>
            <a:prstDash val="solid"/>
          </a:ln>
        </p:spPr>
      </p:sp>
      <p:sp>
        <p:nvSpPr>
          <p:cNvPr id="55" name="OpenAI generic API badg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42887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4288">
            <a:solidFill>
              <a:srgbClr val="04785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AI</a:t>
            </a:r>
          </a:p>
        </p:txBody>
      </p:sp>
      <p:sp>
        <p:nvSpPr>
          <p:cNvPr id="56" name="OpenAI Responses API label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105150"/>
            <a:ext cx="1390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5F46"/>
                </a:solidFill>
              </a:defRPr>
            </a:pPr>
            <a:r>
              <a:rPr sz="1350" b="1">
                <a:solidFill>
                  <a:srgbClr val="065F46"/>
                </a:solidFill>
              </a:rPr>
              <a:t>OpenAI</a:t>
            </a:r>
          </a:p>
          <a:p xmlns:a="http://schemas.openxmlformats.org/drawingml/2006/main">
            <a:pPr algn="ctr">
              <a:defRPr sz="1350" b="1">
                <a:solidFill>
                  <a:srgbClr val="065F46"/>
                </a:solidFill>
              </a:defRPr>
            </a:pPr>
            <a:r>
              <a:rPr sz="1350" b="1">
                <a:solidFill>
                  <a:srgbClr val="065F46"/>
                </a:solidFill>
              </a:rPr>
              <a:t>Responses API</a:t>
            </a:r>
          </a:p>
        </p:txBody>
      </p:sp>
      <p:sp>
        <p:nvSpPr>
          <p:cNvPr id="57" name="IGW connector ancho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480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16" name=""/>
          <p:cNvCxnSpPr>
            <a:stCxn xmlns:a="http://schemas.openxmlformats.org/drawingml/2006/main" id="29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 flipV="1">
            <a:off x="1219200" y="1885950"/>
            <a:ext cx="361950" cy="11334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284C7"/>
            </a:solidFill>
            <a:prstDash val="solid"/>
            <a:tailEnd type="arrow" w="med" len="med"/>
          </a:ln>
        </p:spPr>
      </p:cxnSp>
      <p:cxnSp>
        <p:nvCxnSpPr>
          <p:cNvPr id="117" name=""/>
          <p:cNvCxnSpPr>
            <a:stCxn xmlns:a="http://schemas.openxmlformats.org/drawingml/2006/main" id="33" idx="2"/>
            <a:endCxn xmlns:a="http://schemas.openxmlformats.org/drawingml/2006/main" id="36" idx="0"/>
          </p:cNvCxnSpPr>
          <p:nvPr/>
        </p:nvCxnSpPr>
        <p:spPr>
          <a:xfrm xmlns:a="http://schemas.openxmlformats.org/drawingml/2006/main">
            <a:off x="2762250" y="2305050"/>
            <a:ext cx="0" cy="295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284C7"/>
            </a:solidFill>
            <a:prstDash val="solid"/>
            <a:tailEnd type="arrow" w="sm" len="sm"/>
          </a:ln>
        </p:spPr>
      </p:cxnSp>
      <p:cxnSp>
        <p:nvCxnSpPr>
          <p:cNvPr id="118" name=""/>
          <p:cNvCxnSpPr>
            <a:stCxn xmlns:a="http://schemas.openxmlformats.org/drawingml/2006/main" id="36" idx="2"/>
            <a:endCxn xmlns:a="http://schemas.openxmlformats.org/drawingml/2006/main" id="41" idx="0"/>
          </p:cNvCxnSpPr>
          <p:nvPr/>
        </p:nvCxnSpPr>
        <p:spPr>
          <a:xfrm xmlns:a="http://schemas.openxmlformats.org/drawingml/2006/main">
            <a:off x="2762250" y="3724275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dash"/>
            <a:tailEnd type="arrow" w="sm" len="sm"/>
          </a:ln>
        </p:spPr>
      </p:cxnSp>
      <p:cxnSp>
        <p:nvCxnSpPr>
          <p:cNvPr id="119" name=""/>
          <p:cNvCxnSpPr>
            <a:stCxn xmlns:a="http://schemas.openxmlformats.org/drawingml/2006/main" id="36" idx="3"/>
            <a:endCxn xmlns:a="http://schemas.openxmlformats.org/drawingml/2006/main" id="57" idx="1"/>
          </p:cNvCxnSpPr>
          <p:nvPr/>
        </p:nvCxnSpPr>
        <p:spPr>
          <a:xfrm xmlns:a="http://schemas.openxmlformats.org/drawingml/2006/main">
            <a:off x="3943350" y="3162300"/>
            <a:ext cx="70485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EA580C"/>
            </a:solidFill>
            <a:prstDash val="solid"/>
            <a:tailEnd type="arrow" w="med" len="med"/>
          </a:ln>
        </p:spPr>
      </p:cxnSp>
      <p:cxnSp>
        <p:nvCxnSpPr>
          <p:cNvPr id="120" name=""/>
          <p:cNvCxnSpPr>
            <a:stCxn xmlns:a="http://schemas.openxmlformats.org/drawingml/2006/main" id="57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5162550" y="3305175"/>
            <a:ext cx="838200" cy="1238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EA580C"/>
            </a:solidFill>
            <a:prstDash val="solid"/>
            <a:tailEnd type="arrow" w="med" len="med"/>
          </a:ln>
        </p:spPr>
      </p:cxnSp>
      <p:cxnSp>
        <p:nvCxnSpPr>
          <p:cNvPr id="121" name=""/>
          <p:cNvCxnSpPr>
            <a:stCxn xmlns:a="http://schemas.openxmlformats.org/drawingml/2006/main" id="49" idx="3"/>
            <a:endCxn xmlns:a="http://schemas.openxmlformats.org/drawingml/2006/main" id="54" idx="1"/>
          </p:cNvCxnSpPr>
          <p:nvPr/>
        </p:nvCxnSpPr>
        <p:spPr>
          <a:xfrm xmlns:a="http://schemas.openxmlformats.org/drawingml/2006/main" flipV="1">
            <a:off x="8667750" y="3057525"/>
            <a:ext cx="1619250" cy="947738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59669"/>
            </a:solidFill>
            <a:prstDash val="solid"/>
            <a:tailEnd type="arrow" w="med" len="med"/>
          </a:ln>
        </p:spPr>
      </p:cxnSp>
      <p:sp>
        <p:nvSpPr>
          <p:cNvPr id="64" name="Browser to Vercel protocol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0574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369A1"/>
                </a:solidFill>
              </a:defRPr>
            </a:pPr>
            <a:r>
              <a:rPr sz="975" b="1">
                <a:solidFill>
                  <a:srgbClr val="0369A1"/>
                </a:solidFill>
              </a:rPr>
              <a:t>HTTPS 443</a:t>
            </a:r>
          </a:p>
        </p:txBody>
      </p:sp>
      <p:sp>
        <p:nvSpPr>
          <p:cNvPr id="65" name="Vercel to OCI protocol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4003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2410C"/>
                </a:solidFill>
              </a:defRPr>
            </a:pPr>
            <a:r>
              <a:rPr sz="975" b="1">
                <a:solidFill>
                  <a:srgbClr val="C2410C"/>
                </a:solidFill>
              </a:rPr>
              <a:t>HTTP 8080</a:t>
            </a:r>
          </a:p>
          <a:p xmlns:a="http://schemas.openxmlformats.org/drawingml/2006/main">
            <a:pPr algn="ctr">
              <a:defRPr sz="975" b="1">
                <a:solidFill>
                  <a:srgbClr val="C2410C"/>
                </a:solidFill>
              </a:defRPr>
            </a:pPr>
            <a:r>
              <a:rPr sz="975" b="1">
                <a:solidFill>
                  <a:srgbClr val="C2410C"/>
                </a:solidFill>
              </a:rPr>
              <a:t>+ Bearer</a:t>
            </a:r>
          </a:p>
        </p:txBody>
      </p:sp>
      <p:sp>
        <p:nvSpPr>
          <p:cNvPr id="66" name="OCI to OpenAI protocol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543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47857"/>
                </a:solidFill>
              </a:defRPr>
            </a:pPr>
            <a:r>
              <a:rPr sz="975" b="1">
                <a:solidFill>
                  <a:srgbClr val="047857"/>
                </a:solidFill>
              </a:rPr>
              <a:t>HTTPS 443</a:t>
            </a:r>
          </a:p>
        </p:txBody>
      </p:sp>
      <p:sp>
        <p:nvSpPr>
          <p:cNvPr id="67" name="Fallback reason label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75285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64748B"/>
                </a:solidFill>
              </a:defRPr>
            </a:pPr>
            <a:r>
              <a:rPr sz="863" b="0">
                <a:solidFill>
                  <a:srgbClr val="64748B"/>
                </a:solidFill>
              </a:rPr>
              <a:t>timeout / 429 / 5xx</a:t>
            </a:r>
          </a:p>
        </p:txBody>
      </p:sp>
      <p:sp>
        <p:nvSpPr>
          <p:cNvPr id="68" name="Deployment path not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905500"/>
            <a:ext cx="862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64748B"/>
                </a:solidFill>
              </a:defRPr>
            </a:pPr>
            <a:r>
              <a:rPr sz="938" b="0">
                <a:solidFill>
                  <a:srgbClr val="64748B"/>
                </a:solidFill>
              </a:rPr>
              <a:t>Deployment · GitHub main → Vercel Auto Deploy   ·   approved main commit → OCI manual fetch/checkout + systemd reload</a:t>
            </a:r>
          </a:p>
        </p:txBody>
      </p:sp>
    </p:spTree>
    <p:extLst>
      <p:ext uri="{BB962C8B-B14F-4D97-AF65-F5344CB8AC3E}">
        <p14:creationId xmlns:p14="http://schemas.microsoft.com/office/powerpoint/2010/main" val="95847162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>
            <a:noFill/>
          </a:ln>
        </p:spPr>
      </p:sp>
      <p:sp>
        <p:nvSpPr>
          <p:cNvPr id="3" name="Notes 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1078992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45720" tIns="45720" rIns="45720" bIns="4572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가정, 보안 및 렌더링 노트</a:t>
            </a:r>
            <a:endParaRPr sz="2100"/>
          </a:p>
        </p:txBody>
      </p:sp>
      <p:sp>
        <p:nvSpPr>
          <p:cNvPr id="4" name="Assumptions 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005840"/>
            <a:ext cx="534924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1"/>
            </a:solidFill>
          </a:ln>
        </p:spPr>
      </p:sp>
      <p:sp>
        <p:nvSpPr>
          <p:cNvPr id="5" name="Assumptions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170432"/>
            <a:ext cx="4983480" cy="2606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45720" tIns="45720" rIns="45720" bIns="4572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374151"/>
                </a:solidFill>
                <a:latin typeface="Aptos"/>
                <a:ea typeface="Aptos"/>
                <a:cs typeface="Aptos"/>
              </a:rPr>
              <a:t>가정</a:t>
            </a:r>
            <a:endParaRPr sz="1000"/>
          </a:p>
          <a:p xmlns:a="http://schemas.openxmlformats.org/drawingml/2006/main">
            <a:pPr algn="l">
              <a:buNone/>
            </a:pPr>
            <a:r>
              <a:rPr sz="1000">
                <a:solidFill>
                  <a:srgbClr val="374151"/>
                </a:solidFill>
                <a:latin typeface="Aptos"/>
                <a:ea typeface="Aptos"/>
                <a:cs typeface="Aptos"/>
              </a:rPr>
              <a:t>- 현행 예선 배포 구조를 문서화한 actual-state 모델이며 권장 미래 구성을 추가하지 않습니다.</a:t>
            </a:r>
            <a:endParaRPr sz="1000"/>
          </a:p>
          <a:p xmlns:a="http://schemas.openxmlformats.org/drawingml/2006/main">
            <a:pPr algn="l">
              <a:buNone/>
            </a:pPr>
            <a:r>
              <a:rPr sz="1000">
                <a:solidFill>
                  <a:srgbClr val="374151"/>
                </a:solidFill>
                <a:latin typeface="Aptos"/>
                <a:ea typeface="Aptos"/>
                <a:cs typeface="Aptos"/>
              </a:rPr>
              <a:t>- OCI Region, VCN/Subnet CIDR, Security List와 NSG의 실제 이름, AD/FD는 공개 문서에서 확인되지 않았습니다.</a:t>
            </a:r>
            <a:endParaRPr sz="1000"/>
          </a:p>
          <a:p xmlns:a="http://schemas.openxmlformats.org/drawingml/2006/main">
            <a:pPr algn="l">
              <a:buNone/>
            </a:pPr>
            <a:r>
              <a:rPr sz="1000">
                <a:solidFill>
                  <a:srgbClr val="374151"/>
                </a:solidFill>
                <a:latin typeface="Aptos"/>
                <a:ea typeface="Aptos"/>
                <a:cs typeface="Aptos"/>
              </a:rPr>
              <a:t>- 브라우저는 Vercel의 same-origin /api/plan만 호출하며 OCI VM이나 OpenAI를 직접 호출하지 않습니다.</a:t>
            </a:r>
            <a:endParaRPr sz="1000"/>
          </a:p>
        </p:txBody>
      </p:sp>
      <p:sp>
        <p:nvSpPr>
          <p:cNvPr id="6" name="Security 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005840"/>
            <a:ext cx="534924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1"/>
            </a:solidFill>
          </a:ln>
        </p:spPr>
      </p:sp>
      <p:sp>
        <p:nvSpPr>
          <p:cNvPr id="7" name="Security notes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170432"/>
            <a:ext cx="4983480" cy="2606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45720" tIns="45720" rIns="4572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현행 아키텍처와 보안</a:t>
            </a:r>
            <a:endParaRPr sz="1000"/>
          </a:p>
          <a:p xmlns:a="http://schemas.openxmlformats.org/drawingml/2006/main">
            <a:pPr algn="l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브라우저는 same-origin /api/plan만 호출하며 OCI 주소와 토큰을 알지 못합니다.</a:t>
            </a:r>
            <a:endParaRPr sz="1000"/>
          </a:p>
          <a:p xmlns:a="http://schemas.openxmlformats.org/drawingml/2006/main">
            <a:pPr algn="l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Vercel 서버 Route는 HTTP 8080 + Bearer로 OCI /v1/plan을 호출합니다.</a:t>
            </a:r>
            <a:endParaRPr sz="1000"/>
          </a:p>
          <a:p xmlns:a="http://schemas.openxmlformats.org/drawingml/2006/main">
            <a:pPr algn="l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OCI는 OpenAI Responses API를 HTTPS 443으로 호출하고 키를 저장소 밖에 둡니다.</a:t>
            </a:r>
            <a:endParaRPr sz="1000"/>
          </a:p>
          <a:p xmlns:a="http://schemas.openxmlformats.org/drawingml/2006/main">
            <a:pPr algn="l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OCI timeout/장애/429/5xx/invalid schema에서는 동일 schema LOCAL fallback을 반환합니다.</a:t>
            </a:r>
            <a:endParaRPr sz="1000"/>
          </a:p>
          <a:p xmlns:a="http://schemas.openxmlformats.org/drawingml/2006/main">
            <a:pPr algn="l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Fastify는 인증, rate/burst 제한, 성공 cache, request ID 상관관계 로그를 적용합니다.</a:t>
            </a:r>
            <a:endParaRPr sz="1000"/>
          </a:p>
          <a:p xmlns:a="http://schemas.openxmlformats.org/drawingml/2006/main">
            <a:pPr algn="l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현행 편차: Public 단일 VM이며 Bastion/LB/WAF/HA/TLS 종단이 없습니다.</a:t>
            </a:r>
            <a:endParaRPr sz="1000"/>
          </a:p>
          <a:p xmlns:a="http://schemas.openxmlformats.org/drawingml/2006/main">
            <a:pPr algn="l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Region/CIDR/Security List 또는 NSG/AD·FD는 확인되지 않아 추측하지 않았습니다.</a:t>
            </a:r>
            <a:endParaRPr sz="1000"/>
          </a:p>
        </p:txBody>
      </p:sp>
      <p:sp>
        <p:nvSpPr>
          <p:cNvPr id="8" name="Rendering 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169664"/>
            <a:ext cx="10972800" cy="1783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1"/>
            </a:solidFill>
          </a:ln>
        </p:spPr>
      </p:sp>
      <p:sp>
        <p:nvSpPr>
          <p:cNvPr id="9" name="Rendering notes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343400"/>
            <a:ext cx="10561320" cy="1426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45720" tIns="45720" rIns="4572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F2937"/>
                </a:solidFill>
              </a:defRPr>
            </a:pPr>
            <a:r>
              <a:rPr sz="11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렌더링 노트</a:t>
            </a:r>
            <a:endParaRPr sz="830"/>
          </a:p>
          <a:p xmlns:a="http://schemas.openxmlformats.org/drawingml/2006/main">
            <a:pPr algn="l">
              <a:buNone/>
              <a:defRPr sz="1125" b="0">
                <a:solidFill>
                  <a:srgbClr val="1F2937"/>
                </a:solidFill>
              </a:defRPr>
            </a:pPr>
            <a:r>
              <a:rPr sz="11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OCI Region, VCN, Public Subnet, IGW, Compute는 OCI 스킬의 공식 컨테이너와 아이콘을 사용했습니다.</a:t>
            </a:r>
            <a:endParaRPr sz="830"/>
          </a:p>
          <a:p xmlns:a="http://schemas.openxmlformats.org/drawingml/2006/main">
            <a:pPr algn="l">
              <a:buNone/>
              <a:defRPr sz="1125" b="0">
                <a:solidFill>
                  <a:srgbClr val="1F2937"/>
                </a:solidFill>
              </a:defRPr>
            </a:pPr>
            <a:r>
              <a:rPr sz="11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Vercel과 OpenAI는 OCI 밖의 편집 가능한 일반 Cloud/API 도형으로 표현했습니다.</a:t>
            </a:r>
            <a:endParaRPr sz="830"/>
          </a:p>
          <a:p xmlns:a="http://schemas.openxmlformats.org/drawingml/2006/main">
            <a:pPr algn="l">
              <a:buNone/>
              <a:defRPr sz="1125" b="0">
                <a:solidFill>
                  <a:srgbClr val="1F2937"/>
                </a:solidFill>
              </a:defRPr>
            </a:pPr>
            <a:r>
              <a:rPr sz="11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현재 배포하지 않은 OCI Load Balancer, WAF, Bastion, NAT/Service Gateway, DB, OKE, Functions는 추가하지 않았습니다.</a:t>
            </a:r>
            <a:endParaRPr sz="830"/>
          </a:p>
          <a:p xmlns:a="http://schemas.openxmlformats.org/drawingml/2006/main">
            <a:pPr algn="l">
              <a:buNone/>
              <a:defRPr sz="1125" b="0">
                <a:solidFill>
                  <a:srgbClr val="1F2937"/>
                </a:solidFill>
              </a:defRPr>
            </a:pPr>
            <a:r>
              <a:rPr sz="11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실제 OCI 공인 IP, OCID, 키, 공유 토큰 값은 포함하지 않았습니다.</a:t>
            </a:r>
            <a:endParaRPr sz="830"/>
          </a:p>
        </p:txBody>
      </p:sp>
    </p:spTree>
    <p:extLst>
      <p:ext uri="{BB962C8B-B14F-4D97-AF65-F5344CB8AC3E}">
        <p14:creationId xmlns:p14="http://schemas.microsoft.com/office/powerpoint/2010/main" val="166164603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>
            <a:noFill/>
          </a:ln>
        </p:spPr>
      </p:sp>
      <p:sp>
        <p:nvSpPr>
          <p:cNvPr id="3" name="Advice 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1078992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45720" tIns="45720" rIns="45720" bIns="4572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운영 및 Best-Practice 체크포인트</a:t>
            </a:r>
            <a:endParaRPr sz="2000"/>
          </a:p>
        </p:txBody>
      </p:sp>
      <p:sp>
        <p:nvSpPr>
          <p:cNvPr id="4" name="Advice sub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768096"/>
            <a:ext cx="1088136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45720" tIns="45720" rIns="45720" bIns="45720" anchor="ctr">
            <a:normAutofit fontScale="74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현행 운영 확인과 대회 이후 개선 후보를 구분한 체크리스트입니다.</a:t>
            </a:r>
            <a:endParaRPr sz="919"/>
          </a:p>
        </p:txBody>
      </p:sp>
      <p:sp>
        <p:nvSpPr>
          <p:cNvPr id="5" name="Advice resilience 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078992"/>
            <a:ext cx="3493008" cy="2048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1"/>
            </a:solidFill>
          </a:ln>
        </p:spPr>
      </p:sp>
      <p:sp>
        <p:nvSpPr>
          <p:cNvPr id="6" name="Advice resilience 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197864"/>
            <a:ext cx="320040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45720" tIns="45720" rIns="45720" bIns="4572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6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복원력 / DR</a:t>
            </a:r>
            <a:endParaRPr sz="1060"/>
          </a:p>
        </p:txBody>
      </p:sp>
      <p:sp>
        <p:nvSpPr>
          <p:cNvPr id="7" name="Advice resilience items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17904"/>
            <a:ext cx="3163824" cy="1481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현행: 단일 VM이며 Vercel LOCAL fallback이 게임 연속성을 보완합니다.</a:t>
            </a:r>
            <a:endParaRPr sz="780"/>
          </a:p>
          <a:p xmlns:a="http://schemas.openxmlformats.org/drawingml/2006/main">
            <a:pPr algn="l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현행: Docker healthcheck, restart unless-stopped, systemd 자동 기동을 사용합니다.</a:t>
            </a:r>
            <a:endParaRPr sz="780"/>
          </a:p>
          <a:p xmlns:a="http://schemas.openxmlformats.org/drawingml/2006/main">
            <a:pPr algn="l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이후 검토: HA 목표와 RTO/RPO, 복구 Runbook을 정의합니다.</a:t>
            </a:r>
            <a:endParaRPr sz="780"/>
          </a:p>
        </p:txBody>
      </p:sp>
      <p:sp>
        <p:nvSpPr>
          <p:cNvPr id="8" name="Advice security 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44" y="1078992"/>
            <a:ext cx="3493008" cy="2048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1"/>
            </a:solidFill>
          </a:ln>
        </p:spPr>
      </p:sp>
      <p:sp>
        <p:nvSpPr>
          <p:cNvPr id="9" name="Advice security 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1197864"/>
            <a:ext cx="320040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45720" tIns="45720" rIns="45720" bIns="4572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6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보안 / 네트워크</a:t>
            </a:r>
            <a:endParaRPr sz="1060"/>
          </a:p>
        </p:txBody>
      </p:sp>
      <p:sp>
        <p:nvSpPr>
          <p:cNvPr id="10" name="Advice security items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136" y="1517904"/>
            <a:ext cx="3163824" cy="1481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현행: 비밀값은 Vercel/OCI 서버 전용으로 유지합니다.</a:t>
            </a:r>
            <a:endParaRPr sz="780"/>
          </a:p>
          <a:p xmlns:a="http://schemas.openxmlformats.org/drawingml/2006/main">
            <a:pPr algn="l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현행: OCI와 호스트 방화벽의 TCP 8080 및 DOCKER-USER 규칙을 함께 관리합니다.</a:t>
            </a:r>
            <a:endParaRPr sz="780"/>
          </a:p>
          <a:p xmlns:a="http://schemas.openxmlformats.org/drawingml/2006/main">
            <a:pPr algn="l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이후 검토: 공인 HTTP 8080 앞에 TLS 종단을 추가합니다.</a:t>
            </a:r>
            <a:endParaRPr sz="780"/>
          </a:p>
        </p:txBody>
      </p:sp>
      <p:sp>
        <p:nvSpPr>
          <p:cNvPr id="11" name="Advice operations 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078992"/>
            <a:ext cx="3493008" cy="2048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1"/>
            </a:solidFill>
          </a:ln>
        </p:spPr>
      </p:sp>
      <p:sp>
        <p:nvSpPr>
          <p:cNvPr id="12" name="Advice operations 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1197864"/>
            <a:ext cx="320040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45720" tIns="45720" rIns="45720" bIns="4572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6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운영</a:t>
            </a:r>
            <a:endParaRPr sz="1060"/>
          </a:p>
        </p:txBody>
      </p:sp>
      <p:sp>
        <p:nvSpPr>
          <p:cNvPr id="13" name="Advice operations items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1517904"/>
            <a:ext cx="3163824" cy="1481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X-Request-Id로 Vercel과 OCI 로그를 연계합니다.</a:t>
            </a:r>
            <a:endParaRPr sz="780"/>
          </a:p>
          <a:p xmlns:a="http://schemas.openxmlformats.org/drawingml/2006/main">
            <a:pPr algn="l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로그는 10MB × 3으로 제한하고 /health와 fallback 훈련을 반복합니다.</a:t>
            </a:r>
            <a:endParaRPr sz="780"/>
          </a:p>
          <a:p xmlns:a="http://schemas.openxmlformats.org/drawingml/2006/main">
            <a:pPr algn="l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승인된 main 커밋만 수동 배포하고 reload 뒤 health를 확인합니다.</a:t>
            </a:r>
            <a:endParaRPr sz="780"/>
          </a:p>
        </p:txBody>
      </p:sp>
      <p:sp>
        <p:nvSpPr>
          <p:cNvPr id="14" name="Advice cost 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83280"/>
            <a:ext cx="5349240" cy="21396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1"/>
            </a:solidFill>
          </a:ln>
        </p:spPr>
      </p:sp>
      <p:sp>
        <p:nvSpPr>
          <p:cNvPr id="15" name="Advice cost 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502152"/>
            <a:ext cx="5056632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45720" tIns="45720" rIns="45720" bIns="4572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6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비용 / 성능</a:t>
            </a:r>
            <a:endParaRPr sz="1060"/>
          </a:p>
        </p:txBody>
      </p:sp>
      <p:sp>
        <p:nvSpPr>
          <p:cNvPr id="16" name="Advice cost items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822192"/>
            <a:ext cx="5020056" cy="15727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>
                <a:solidFill>
                  <a:srgbClr val="374151"/>
                </a:solidFill>
                <a:latin typeface="Aptos"/>
                <a:ea typeface="Aptos"/>
                <a:cs typeface="Aptos"/>
              </a:rPr>
              <a:t>- 예선 범위에서는 단일 Compute VM과 Vercel 배포로 구성 요소를 최소화합니다.</a:t>
            </a:r>
            <a:endParaRPr sz="780"/>
          </a:p>
          <a:p xmlns:a="http://schemas.openxmlformats.org/drawingml/2006/main">
            <a:pPr algn="l">
              <a:buNone/>
            </a:pPr>
            <a:r>
              <a:rPr sz="780">
                <a:solidFill>
                  <a:srgbClr val="374151"/>
                </a:solidFill>
                <a:latin typeface="Aptos"/>
                <a:ea typeface="Aptos"/>
                <a:cs typeface="Aptos"/>
              </a:rPr>
              <a:t>- 고가용성, 관리형 진입 계층, TLS 종단은 대회 이후 요구와 비용을 함께 검토합니다.</a:t>
            </a:r>
            <a:endParaRPr sz="780"/>
          </a:p>
        </p:txBody>
      </p:sp>
      <p:sp>
        <p:nvSpPr>
          <p:cNvPr id="17" name="Advice open 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3383280"/>
            <a:ext cx="5431536" cy="21396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1"/>
            </a:solidFill>
          </a:ln>
        </p:spPr>
      </p:sp>
      <p:sp>
        <p:nvSpPr>
          <p:cNvPr id="18" name="Advice open 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3502152"/>
            <a:ext cx="5138928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45720" tIns="45720" rIns="45720" bIns="4572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6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확정 필요 사항</a:t>
            </a:r>
            <a:endParaRPr sz="1060"/>
          </a:p>
        </p:txBody>
      </p:sp>
      <p:sp>
        <p:nvSpPr>
          <p:cNvPr id="19" name="Advice open items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3822192"/>
            <a:ext cx="5102352" cy="15727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F2937"/>
                </a:solidFill>
              </a:defRPr>
            </a:pPr>
            <a:r>
              <a:rPr sz="11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OCI Region과 VCN/Subnet CIDR</a:t>
            </a:r>
            <a:endParaRPr sz="780"/>
          </a:p>
          <a:p xmlns:a="http://schemas.openxmlformats.org/drawingml/2006/main">
            <a:pPr algn="l">
              <a:buNone/>
              <a:defRPr sz="1125" b="0">
                <a:solidFill>
                  <a:srgbClr val="1F2937"/>
                </a:solidFill>
              </a:defRPr>
            </a:pPr>
            <a:r>
              <a:rPr sz="11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Security List 또는 NSG 실제 이름과 AD/FD 배치</a:t>
            </a:r>
            <a:endParaRPr sz="780"/>
          </a:p>
          <a:p xmlns:a="http://schemas.openxmlformats.org/drawingml/2006/main">
            <a:pPr algn="l">
              <a:buNone/>
              <a:defRPr sz="1125" b="0">
                <a:solidFill>
                  <a:srgbClr val="1F2937"/>
                </a:solidFill>
              </a:defRPr>
            </a:pPr>
            <a:r>
              <a:rPr sz="11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Vercel 고정 송신 IP 사용 여부와 TCP 8080 허용 소스</a:t>
            </a:r>
            <a:endParaRPr sz="780"/>
          </a:p>
          <a:p xmlns:a="http://schemas.openxmlformats.org/drawingml/2006/main">
            <a:pPr algn="l">
              <a:buNone/>
              <a:defRPr sz="1125" b="0">
                <a:solidFill>
                  <a:srgbClr val="1F2937"/>
                </a:solidFill>
              </a:defRPr>
            </a:pPr>
            <a:r>
              <a:rPr sz="11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대회 이후 TLS·HA·관리형 진입 계층 도입 범위</a:t>
            </a:r>
            <a:endParaRPr sz="780"/>
          </a:p>
        </p:txBody>
      </p:sp>
      <p:sp>
        <p:nvSpPr>
          <p:cNvPr id="20" name="Advice foote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272784"/>
            <a:ext cx="1097280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45720" tIns="45720" rIns="45720" bIns="45720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현행 구성 변경 전에는 애플리케이션·운영·보안 담당자와 함께 검증하십시오.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1073118411"/>
      </p:ext>
    </p:extLst>
  </p:cSld>
</p:sld>
</file>

<file path=ppt/theme/theme1.xml><?xml version="1.0" encoding="utf-8"?>
<a:theme xmlns:a="http://schemas.openxmlformats.org/drawingml/2006/main" name="OCI Arch Theme">
  <a:themeElements>
    <a:clrScheme name="OCI Arch">
      <a:dk1>
        <a:sysClr val="windowText" lastClr="000000"/>
      </a:dk1>
      <a:lt1>
        <a:sysClr val="window" lastClr="FFFFFF"/>
      </a:lt1>
      <a:dk2>
        <a:srgbClr val="1F2937"/>
      </a:dk2>
      <a:lt2>
        <a:srgbClr val="F8FAFC"/>
      </a:lt2>
      <a:accent1>
        <a:srgbClr val="C74634"/>
      </a:accent1>
      <a:accent2>
        <a:srgbClr val="1F4E79"/>
      </a:accent2>
      <a:accent3>
        <a:srgbClr val="2E7D32"/>
      </a:accent3>
      <a:accent4>
        <a:srgbClr val="AD6800"/>
      </a:accent4>
      <a:accent5>
        <a:srgbClr val="0E7490"/>
      </a:accent5>
      <a:accent6>
        <a:srgbClr val="7C3AED"/>
      </a:accent6>
      <a:hlink>
        <a:srgbClr val="2563EB"/>
      </a:hlink>
      <a:folHlink>
        <a:srgbClr val="9333EA"/>
      </a:folHlink>
    </a:clrScheme>
    <a:fontScheme name="OCI Arch">
      <a:majorFont>
        <a:latin typeface="Aptos Display"/>
        <a:ea typeface="Malgun Gothic"/>
        <a:cs typeface="Arial"/>
      </a:majorFont>
      <a:minorFont>
        <a:latin typeface="Aptos"/>
        <a:ea typeface="Malgun Gothic"/>
        <a:cs typeface="Arial"/>
      </a:minorFont>
    </a:fontScheme>
    <a:fmtScheme name="OCI Arc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</a:schemeClr>
            </a:gs>
            <a:gs pos="100000">
              <a:schemeClr val="phClr">
                <a:lumMod val="105000"/>
                <a:sat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08000"/>
                <a:satMod val="105000"/>
              </a:schemeClr>
            </a:gs>
            <a:gs pos="100000">
              <a:schemeClr val="phClr">
                <a:lumMod val="105000"/>
                <a:satMod val="103000"/>
              </a:schemeClr>
            </a:gs>
          </a:gsLst>
          <a:lin ang="5400000" scaled="0"/>
        </a:gradFill>
      </a:fillStyleLst>
      <a:lnStyleLst>
        <a:ln w="9525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2026-08-06T08:20:40.9040000Z</dcterms:created>
  <dcterms:modified xsi:type="dcterms:W3CDTF">2026-08-06T08:20:40.9040000Z</dcterms:modified>
</coreProperties>
</file>