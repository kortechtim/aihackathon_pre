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c1ba5b9db7f4ca3" /><Relationship Type="http://schemas.openxmlformats.org/officeDocument/2006/relationships/extended-properties" Target="/docProps/app.xml" Id="R64d8bad94b5d4279" /><Relationship Type="http://schemas.openxmlformats.org/officeDocument/2006/relationships/officeDocument" Target="/ppt/presentation.xml" Id="R88ea53b5240547c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cdee22caa7a485e"/>
  </p:sldMasterIdLst>
  <p:notesMasterIdLst>
    <p:notesMasterId xmlns:r="http://schemas.openxmlformats.org/officeDocument/2006/relationships" r:id="R2a1c4425ed8a4d18"/>
  </p:notesMasterIdLst>
  <p:sldIdLst>
    <p:sldId xmlns:r="http://schemas.openxmlformats.org/officeDocument/2006/relationships" id="256" r:id="R9d81712835ba474d"/>
    <p:sldId xmlns:r="http://schemas.openxmlformats.org/officeDocument/2006/relationships" id="257" r:id="R170f037f4761477d"/>
    <p:sldId xmlns:r="http://schemas.openxmlformats.org/officeDocument/2006/relationships" id="258" r:id="Ra2803effaad34867"/>
    <p:sldId xmlns:r="http://schemas.openxmlformats.org/officeDocument/2006/relationships" id="259" r:id="Rd8add7553b184cb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d65ed2c41304d5d" /><Relationship Type="http://schemas.openxmlformats.org/officeDocument/2006/relationships/slideMaster" Target="/ppt/slideMasters/slideMaster1.xml" Id="Rbcdee22caa7a485e" /><Relationship Type="http://schemas.openxmlformats.org/officeDocument/2006/relationships/notesMaster" Target="/ppt/notesMasters/notesMaster1.xml" Id="R2a1c4425ed8a4d18" /><Relationship Type="http://schemas.openxmlformats.org/officeDocument/2006/relationships/presProps" Target="/ppt/presProps.xml" Id="R905ba1e2ed234fcb" /><Relationship Type="http://schemas.openxmlformats.org/officeDocument/2006/relationships/tableStyles" Target="/ppt/tableStyles.xml" Id="Re576fbf35ab94bdc" /><Relationship Type="http://schemas.openxmlformats.org/officeDocument/2006/relationships/slide" Target="/ppt/slides/slide1.xml" Id="R9d81712835ba474d" /><Relationship Type="http://schemas.openxmlformats.org/officeDocument/2006/relationships/slide" Target="/ppt/slides/slide2.xml" Id="R170f037f4761477d" /><Relationship Type="http://schemas.openxmlformats.org/officeDocument/2006/relationships/slide" Target="/ppt/slides/slide3.xml" Id="Ra2803effaad34867" /><Relationship Type="http://schemas.openxmlformats.org/officeDocument/2006/relationships/slide" Target="/ppt/slides/slide4.xml" Id="Rd8add7553b184cb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86e3443e0f3466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CI Arch Theme">
  <a:themeElements>
    <a:clrScheme name="OCI Arch">
      <a:dk1>
        <a:sysClr val="windowText" lastClr="000000"/>
      </a:dk1>
      <a:lt1>
        <a:sysClr val="window" lastClr="FFFFFF"/>
      </a:lt1>
      <a:dk2>
        <a:srgbClr val="1F2937"/>
      </a:dk2>
      <a:lt2>
        <a:srgbClr val="F8FAFC"/>
      </a:lt2>
      <a:accent1>
        <a:srgbClr val="C74634"/>
      </a:accent1>
      <a:accent2>
        <a:srgbClr val="1F4E79"/>
      </a:accent2>
      <a:accent3>
        <a:srgbClr val="2E7D32"/>
      </a:accent3>
      <a:accent4>
        <a:srgbClr val="AD6800"/>
      </a:accent4>
      <a:accent5>
        <a:srgbClr val="0E7490"/>
      </a:accent5>
      <a:accent6>
        <a:srgbClr val="7C3AED"/>
      </a:accent6>
      <a:hlink>
        <a:srgbClr val="2563EB"/>
      </a:hlink>
      <a:folHlink>
        <a:srgbClr val="9333EA"/>
      </a:folHlink>
    </a:clrScheme>
    <a:fontScheme name="OCI Arch">
      <a:majorFont>
        <a:latin typeface="Aptos Display"/>
        <a:ea typeface="Malgun Gothic"/>
        <a:cs typeface="Arial"/>
      </a:majorFont>
      <a:minorFont>
        <a:latin typeface="Aptos"/>
        <a:ea typeface="Malgun Gothic"/>
        <a:cs typeface="Arial"/>
      </a:minorFont>
    </a:fontScheme>
    <a:fmtScheme name="OCI Arch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</a:schemeClr>
            </a:gs>
            <a:gs pos="100000">
              <a:schemeClr val="phClr">
                <a:lumMod val="105000"/>
                <a:sat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8000"/>
                <a:satMod val="105000"/>
              </a:schemeClr>
            </a:gs>
            <a:gs pos="100000">
              <a:schemeClr val="phClr">
                <a:lumMod val="105000"/>
                <a:satMod val="103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6d9b5d4b8434aed" /><Relationship Type="http://schemas.openxmlformats.org/officeDocument/2006/relationships/notesMaster" Target="/ppt/notesMasters/notesMaster1.xml" Id="Rcfd124bbf7d64a9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d669e72eb2a4b40" /><Relationship Type="http://schemas.openxmlformats.org/officeDocument/2006/relationships/notesMaster" Target="/ppt/notesMasters/notesMaster1.xml" Id="R8e8ba362504a439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a9aa1a8f3914ec5" /><Relationship Type="http://schemas.openxmlformats.org/officeDocument/2006/relationships/notesMaster" Target="/ppt/notesMasters/notesMaster1.xml" Id="R303002a237f147c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d89170dc45c4e7f" /><Relationship Type="http://schemas.openxmlformats.org/officeDocument/2006/relationships/notesMaster" Target="/ppt/notesMasters/notesMaster1.xml" Id="R9dc16c125cec443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Oracle Cloud Infrastructure Architecture Diagram Toolkit — https://docs.oracle.com/en-us/iaas/Content/General/Reference/graphicsfordiagrams.htm</a:t>
            </a:r>
          </a:p>
          <a:p xmlns:a="http://schemas.openxmlformats.org/drawingml/2006/main">
            <a:r>
              <a:t>- Repository scope and deployment documents at main commit a7ff4c0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 README.md, app/api/dialogue/route.ts, lib/server/oci-dialogue-client.ts</a:t>
            </a:r>
          </a:p>
          <a:p xmlns:a="http://schemas.openxmlformats.org/drawingml/2006/main">
            <a:r>
              <a:t>- Repository infra/oci/README.md, docker-compose.yml, pixel-panic-api.service.example</a:t>
            </a:r>
          </a:p>
          <a:p xmlns:a="http://schemas.openxmlformats.org/drawingml/2006/main">
            <a:r>
              <a:t>- Repository backend/Dockerfile and backend/src runtime files</a:t>
            </a:r>
          </a:p>
          <a:p xmlns:a="http://schemas.openxmlformats.org/drawingml/2006/main">
            <a:r>
              <a:t>- Oracle OCI Architecture Diagram Toolkit — https://docs.oracle.com/en-us/iaas/Content/General/Reference/graphicsfordiagrams.htm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 source and deployment documents at main commit a7ff4c0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 source and deployment documents at main commit a7ff4c0</a:t>
            </a:r>
          </a:p>
          <a:p xmlns:a="http://schemas.openxmlformats.org/drawingml/2006/main">
            <a:r>
              <a:t>- OCI Well-Architected Framework — https://docs.oracle.com/en/solutions/oci-best-practices/index.html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cf8b8e24114adb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2d3993cc11f48f6" /><Relationship Type="http://schemas.openxmlformats.org/officeDocument/2006/relationships/slideLayout" Target="/ppt/slideLayouts/slideLayout1.xml" Id="Rdd968a45e7974695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d968a45e7974695"/>
  </p:sldLayoutIdLst>
</p:sldMaster>
</file>

<file path=ppt/slideMasters/theme/theme2.xml><?xml version="1.0" encoding="utf-8"?>
<a:theme xmlns:a="http://schemas.openxmlformats.org/drawingml/2006/main" name="OCI Arch Theme">
  <a:themeElements>
    <a:clrScheme name="OCI Arch">
      <a:dk1>
        <a:sysClr val="windowText" lastClr="000000"/>
      </a:dk1>
      <a:lt1>
        <a:sysClr val="window" lastClr="FFFFFF"/>
      </a:lt1>
      <a:dk2>
        <a:srgbClr val="1F2937"/>
      </a:dk2>
      <a:lt2>
        <a:srgbClr val="F8FAFC"/>
      </a:lt2>
      <a:accent1>
        <a:srgbClr val="C74634"/>
      </a:accent1>
      <a:accent2>
        <a:srgbClr val="1F4E79"/>
      </a:accent2>
      <a:accent3>
        <a:srgbClr val="2E7D32"/>
      </a:accent3>
      <a:accent4>
        <a:srgbClr val="AD6800"/>
      </a:accent4>
      <a:accent5>
        <a:srgbClr val="0E7490"/>
      </a:accent5>
      <a:accent6>
        <a:srgbClr val="7C3AED"/>
      </a:accent6>
      <a:hlink>
        <a:srgbClr val="2563EB"/>
      </a:hlink>
      <a:folHlink>
        <a:srgbClr val="9333EA"/>
      </a:folHlink>
    </a:clrScheme>
    <a:fontScheme name="OCI Arch">
      <a:majorFont>
        <a:latin typeface="Aptos Display"/>
        <a:ea typeface="Malgun Gothic"/>
        <a:cs typeface="Arial"/>
      </a:majorFont>
      <a:minorFont>
        <a:latin typeface="Aptos"/>
        <a:ea typeface="Malgun Gothic"/>
        <a:cs typeface="Arial"/>
      </a:minorFont>
    </a:fontScheme>
    <a:fmtScheme name="OCI Arch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</a:schemeClr>
            </a:gs>
            <a:gs pos="100000">
              <a:schemeClr val="phClr">
                <a:lumMod val="105000"/>
                <a:sat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8000"/>
                <a:satMod val="105000"/>
              </a:schemeClr>
            </a:gs>
            <a:gs pos="100000">
              <a:schemeClr val="phClr">
                <a:lumMod val="105000"/>
                <a:satMod val="103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7d35a0c8f040a7" /><Relationship Type="http://schemas.openxmlformats.org/officeDocument/2006/relationships/image" Target="/ppt/media/image.png" Id="R9f48f5b1eeed4f93" /><Relationship Type="http://schemas.openxmlformats.org/officeDocument/2006/relationships/image" Target="/ppt/media/image2.png" Id="R37b4e0a0360745da" /><Relationship Type="http://schemas.openxmlformats.org/officeDocument/2006/relationships/notesSlide" Target="/ppt/notesSlides/notesSlide1.xml" Id="R711b5297b0b34ac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e95bb5459046ce" /><Relationship Type="http://schemas.openxmlformats.org/officeDocument/2006/relationships/image" Target="/ppt/media/image3.png" Id="Rc556968a848841f5" /><Relationship Type="http://schemas.openxmlformats.org/officeDocument/2006/relationships/image" Target="/ppt/media/image4.png" Id="Re05f602d20f5443d" /><Relationship Type="http://schemas.openxmlformats.org/officeDocument/2006/relationships/image" Target="/ppt/media/image5.png" Id="Rd4e7266ca7f341b6" /><Relationship Type="http://schemas.openxmlformats.org/officeDocument/2006/relationships/image" Target="/ppt/media/image6.png" Id="R5b54b0a975a34191" /><Relationship Type="http://schemas.openxmlformats.org/officeDocument/2006/relationships/image" Target="/ppt/media/image7.png" Id="R02ff1fe46a94451d" /><Relationship Type="http://schemas.openxmlformats.org/officeDocument/2006/relationships/image" Target="/ppt/media/image8.png" Id="R0801dfc19708497a" /><Relationship Type="http://schemas.openxmlformats.org/officeDocument/2006/relationships/notesSlide" Target="/ppt/notesSlides/notesSlide2.xml" Id="Rc53c6a0a0a0640c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8bf5b45c2e43cc" /><Relationship Type="http://schemas.openxmlformats.org/officeDocument/2006/relationships/notesSlide" Target="/ppt/notesSlides/notesSlide3.xml" Id="R04ef28b9a68c46b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d08dc59638487f" /><Relationship Type="http://schemas.openxmlformats.org/officeDocument/2006/relationships/notesSlide" Target="/ppt/notesSlides/notesSlide4.xml" Id="R615d99fa185243c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Background">
            <a:extLst xmlns:a="http://schemas.openxmlformats.org/drawingml/2006/main">
              <a:ext uri="{FF2B5EF4-FFF2-40B4-BE49-F238E27FC236}">
                <a16:creationId xmlns:a16="http://schemas.microsoft.com/office/drawing/2014/main" id="{098DEF49-9548-4FF3-8342-3E9F41BEF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</p:sp>
      <p:pic>
        <p:nvPicPr>
          <p:cNvPr id="12" name="Oracle logo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48f5b1eeed4f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24128" y="1051560"/>
            <a:ext cx="1417320" cy="292608"/>
          </a:xfrm>
          <a:prstGeom xmlns:a="http://schemas.openxmlformats.org/drawingml/2006/main" prst="rect">
            <a:avLst/>
          </a:prstGeom>
        </p:spPr>
      </p:pic>
      <p:pic>
        <p:nvPicPr>
          <p:cNvPr id="13" name="Cover cloud motif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b4e0a0360745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55280" y="384048"/>
            <a:ext cx="3611880" cy="2148840"/>
          </a:xfrm>
          <a:prstGeom xmlns:a="http://schemas.openxmlformats.org/drawingml/2006/main" prst="rect">
            <a:avLst/>
          </a:prstGeom>
        </p:spPr>
      </p:pic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91FC63E8-2947-4924-965B-137D90711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88582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45720" tIns="45720" rIns="45720" bIns="45720" anchor="ctr">
            <a:normAutofit fontScale="99306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312D2A"/>
                </a:solidFill>
              </a:defRPr>
            </a:pPr>
            <a:r>
              <a:rPr sz="3600" b="1">
                <a:solidFill>
                  <a:srgbClr val="312D2A"/>
                </a:solidFill>
                <a:latin typeface="Aptos"/>
                <a:ea typeface="Aptos"/>
                <a:cs typeface="Aptos"/>
              </a:rPr>
              <a:t>PIXEL PANIC AI Rescue</a:t>
            </a:r>
            <a:endParaRPr sz="3100"/>
          </a:p>
          <a:p xmlns:a="http://schemas.openxmlformats.org/drawingml/2006/main">
            <a:pPr algn="l">
              <a:buNone/>
              <a:defRPr sz="3600" b="1">
                <a:solidFill>
                  <a:srgbClr val="312D2A"/>
                </a:solidFill>
              </a:defRPr>
            </a:pPr>
            <a:r>
              <a:rPr sz="3600" b="1">
                <a:solidFill>
                  <a:srgbClr val="312D2A"/>
                </a:solidFill>
                <a:latin typeface="Aptos"/>
                <a:ea typeface="Aptos"/>
                <a:cs typeface="Aptos"/>
              </a:rPr>
              <a:t>Current Production Architecture</a:t>
            </a:r>
            <a:endParaRPr sz="3100"/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4E66A0D5-7EDC-4FC1-B79E-7FFF1C151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0050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45720" tIns="45720" rIns="4572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A13C21"/>
                </a:solidFill>
              </a:defRPr>
            </a:pPr>
            <a:r>
              <a:rPr sz="1650" b="0">
                <a:solidFill>
                  <a:srgbClr val="A13C21"/>
                </a:solidFill>
                <a:latin typeface="Aptos"/>
                <a:ea typeface="Aptos"/>
                <a:cs typeface="Aptos"/>
              </a:rPr>
              <a:t>Preliminary deployment · Actual-state documentation</a:t>
            </a:r>
            <a:endParaRPr sz="1700"/>
          </a:p>
        </p:txBody>
      </p:sp>
      <p:sp>
        <p:nvSpPr>
          <p:cNvPr id="7" name="Scope">
            <a:extLst xmlns:a="http://schemas.openxmlformats.org/drawingml/2006/main">
              <a:ext uri="{FF2B5EF4-FFF2-40B4-BE49-F238E27FC236}">
                <a16:creationId xmlns:a16="http://schemas.microsoft.com/office/drawing/2014/main" id="{E59BC57C-49E9-426D-8F35-8751AA9ED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45720" tIns="45720" rIns="45720" bIns="45720" anchor="ctr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12D2A"/>
                </a:solidFill>
              </a:defRPr>
            </a:pPr>
            <a:r>
              <a:rPr sz="1275" b="1">
                <a:solidFill>
                  <a:srgbClr val="312D2A"/>
                </a:solidFill>
                <a:latin typeface="Aptos"/>
                <a:ea typeface="Aptos"/>
                <a:cs typeface="Aptos"/>
              </a:rPr>
              <a:t>Current preliminary deployment</a:t>
            </a:r>
            <a:endParaRPr sz="1250"/>
          </a:p>
        </p:txBody>
      </p:sp>
      <p:sp>
        <p:nvSpPr>
          <p:cNvPr id="8" name="Deck type">
            <a:extLst xmlns:a="http://schemas.openxmlformats.org/drawingml/2006/main">
              <a:ext uri="{FF2B5EF4-FFF2-40B4-BE49-F238E27FC236}">
                <a16:creationId xmlns:a16="http://schemas.microsoft.com/office/drawing/2014/main" id="{D6E685BE-97BE-44B6-B5CE-C49F2750C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00625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45720" tIns="45720" rIns="45720" bIns="45720" anchor="ctr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Actual state · User → Vercel → OCI → OpenAI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81158729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Background">
            <a:extLst xmlns:a="http://schemas.openxmlformats.org/drawingml/2006/main">
              <a:ext uri="{FF2B5EF4-FFF2-40B4-BE49-F238E27FC236}">
                <a16:creationId xmlns:a16="http://schemas.microsoft.com/office/drawing/2014/main" id="{588567B5-DE60-4971-B144-CD59AF2E5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</p:sp>
      <p:sp>
        <p:nvSpPr>
          <p:cNvPr id="3" name="Diagram title">
            <a:extLst xmlns:a="http://schemas.openxmlformats.org/drawingml/2006/main">
              <a:ext uri="{FF2B5EF4-FFF2-40B4-BE49-F238E27FC236}">
                <a16:creationId xmlns:a16="http://schemas.microsoft.com/office/drawing/2014/main" id="{FEAB7C6A-75BD-4555-B69F-73228B439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33350"/>
            <a:ext cx="1162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45720" tIns="45720" rIns="45720" bIns="45720" anchor="ctr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PIXEL PANIC AI Rescue — Current Production Architecture</a:t>
            </a:r>
            <a:endParaRPr sz="1500"/>
          </a:p>
        </p:txBody>
      </p:sp>
      <p:sp>
        <p:nvSpPr>
          <p:cNvPr id="4" name="Region boundary">
            <a:extLst xmlns:a="http://schemas.openxmlformats.org/drawingml/2006/main">
              <a:ext uri="{FF2B5EF4-FFF2-40B4-BE49-F238E27FC236}">
                <a16:creationId xmlns:a16="http://schemas.microsoft.com/office/drawing/2014/main" id="{838D2B49-1B9B-44A5-B744-BA481EAF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723900"/>
            <a:ext cx="5476875" cy="501015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F5F4F2"/>
          </a:solidFill>
          <a:ln xmlns:a="http://schemas.openxmlformats.org/drawingml/2006/main" w="12700">
            <a:solidFill>
              <a:srgbClr val="9E9892"/>
            </a:solidFill>
          </a:ln>
        </p:spPr>
      </p:sp>
      <p:sp>
        <p:nvSpPr>
          <p:cNvPr id="5" name="Region boundary label">
            <a:extLst xmlns:a="http://schemas.openxmlformats.org/drawingml/2006/main">
              <a:ext uri="{FF2B5EF4-FFF2-40B4-BE49-F238E27FC236}">
                <a16:creationId xmlns:a16="http://schemas.microsoft.com/office/drawing/2014/main" id="{C6554E1C-66F4-464D-A5E8-8434BBD8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800100"/>
            <a:ext cx="5000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45720" tIns="45720" rIns="45720" bIns="45720" anchor="ctr">
            <a:normAutofit fontScale="854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312D2A"/>
                </a:solidFill>
              </a:defRPr>
            </a:pPr>
            <a:r>
              <a:rPr sz="1200" b="1">
                <a:solidFill>
                  <a:srgbClr val="312D2A"/>
                </a:solidFill>
                <a:latin typeface="Aptos"/>
                <a:ea typeface="Aptos"/>
                <a:cs typeface="Aptos"/>
              </a:rPr>
              <a:t>OCI Region</a:t>
            </a:r>
            <a:endParaRPr sz="1100"/>
          </a:p>
        </p:txBody>
      </p:sp>
      <p:sp>
        <p:nvSpPr>
          <p:cNvPr id="6" name="VCN boundary">
            <a:extLst xmlns:a="http://schemas.openxmlformats.org/drawingml/2006/main">
              <a:ext uri="{FF2B5EF4-FFF2-40B4-BE49-F238E27FC236}">
                <a16:creationId xmlns:a16="http://schemas.microsoft.com/office/drawing/2014/main" id="{187FF6D0-02A5-456F-8A71-5EF22983D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1162050"/>
            <a:ext cx="4714875" cy="421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AE562C"/>
            </a:solidFill>
            <a:prstDash val="dash"/>
          </a:ln>
        </p:spPr>
      </p:sp>
      <p:sp>
        <p:nvSpPr>
          <p:cNvPr id="7" name="VCN boundary label">
            <a:extLst xmlns:a="http://schemas.openxmlformats.org/drawingml/2006/main">
              <a:ext uri="{FF2B5EF4-FFF2-40B4-BE49-F238E27FC236}">
                <a16:creationId xmlns:a16="http://schemas.microsoft.com/office/drawing/2014/main" id="{9095B4D7-2CEF-4D42-9B06-110A7CE3E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2382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45720" tIns="45720" rIns="45720" bIns="45720" anchor="ctr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74634"/>
                </a:solidFill>
              </a:defRPr>
            </a:pPr>
            <a:r>
              <a:rPr sz="1200" b="1">
                <a:solidFill>
                  <a:srgbClr val="C74634"/>
                </a:solidFill>
                <a:latin typeface="Aptos"/>
                <a:ea typeface="Aptos"/>
                <a:cs typeface="Aptos"/>
              </a:rPr>
              <a:t>PIXEL PANIC VCN</a:t>
            </a:r>
            <a:endParaRPr sz="1100"/>
          </a:p>
        </p:txBody>
      </p:sp>
      <p:pic>
        <p:nvPicPr>
          <p:cNvPr id="193" name="VCN badg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56968a848841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482138" y="1023938"/>
            <a:ext cx="276225" cy="276225"/>
          </a:xfrm>
          <a:prstGeom xmlns:a="http://schemas.openxmlformats.org/drawingml/2006/main" prst="rect">
            <a:avLst/>
          </a:prstGeom>
        </p:spPr>
      </p:pic>
      <p:sp>
        <p:nvSpPr>
          <p:cNvPr id="9" name="Subnet 1">
            <a:extLst xmlns:a="http://schemas.openxmlformats.org/drawingml/2006/main">
              <a:ext uri="{FF2B5EF4-FFF2-40B4-BE49-F238E27FC236}">
                <a16:creationId xmlns:a16="http://schemas.microsoft.com/office/drawing/2014/main" id="{A3DD71F5-1B38-47B5-B8CE-BA8AF0C65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1619250"/>
            <a:ext cx="3952875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AE562C"/>
            </a:solidFill>
            <a:prstDash val="dash"/>
          </a:ln>
        </p:spPr>
      </p:sp>
      <p:sp>
        <p:nvSpPr>
          <p:cNvPr id="10" name="Subnet 1 label">
            <a:extLst xmlns:a="http://schemas.openxmlformats.org/drawingml/2006/main">
              <a:ext uri="{FF2B5EF4-FFF2-40B4-BE49-F238E27FC236}">
                <a16:creationId xmlns:a16="http://schemas.microsoft.com/office/drawing/2014/main" id="{25FAB66E-E77F-4D83-AA9D-A6B287D37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6954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45720" tIns="45720" rIns="45720" bIns="45720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74634"/>
                </a:solidFill>
              </a:defRPr>
            </a:pPr>
            <a:r>
              <a:rPr sz="1200" b="1">
                <a:solidFill>
                  <a:srgbClr val="C74634"/>
                </a:solidFill>
                <a:latin typeface="Aptos"/>
                <a:ea typeface="Aptos"/>
                <a:cs typeface="Aptos"/>
              </a:rPr>
              <a:t>Public Subnet</a:t>
            </a:r>
            <a:endParaRPr sz="1100"/>
          </a:p>
        </p:txBody>
      </p:sp>
      <p:pic>
        <p:nvPicPr>
          <p:cNvPr id="196" name="Subnet 1 route table badg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5f602d20f544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96325" y="1685925"/>
            <a:ext cx="209550" cy="209550"/>
          </a:xfrm>
          <a:prstGeom xmlns:a="http://schemas.openxmlformats.org/drawingml/2006/main" prst="rect">
            <a:avLst/>
          </a:prstGeom>
        </p:spPr>
      </p:pic>
      <p:pic>
        <p:nvPicPr>
          <p:cNvPr id="197" name="Subnet 1 security list badg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e7266ca7f341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963025" y="1685925"/>
            <a:ext cx="209550" cy="209550"/>
          </a:xfrm>
          <a:prstGeom xmlns:a="http://schemas.openxmlformats.org/drawingml/2006/main" prst="rect">
            <a:avLst/>
          </a:prstGeom>
        </p:spPr>
      </p:pic>
      <p:pic>
        <p:nvPicPr>
          <p:cNvPr id="198" name="Icon User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54b0a975a341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7675" y="2686050"/>
            <a:ext cx="514350" cy="514350"/>
          </a:xfrm>
          <a:prstGeom xmlns:a="http://schemas.openxmlformats.org/drawingml/2006/main" prst="rect">
            <a:avLst/>
          </a:prstGeom>
        </p:spPr>
      </p:pic>
      <p:sp>
        <p:nvSpPr>
          <p:cNvPr id="14" name="Label User">
            <a:extLst xmlns:a="http://schemas.openxmlformats.org/drawingml/2006/main">
              <a:ext uri="{FF2B5EF4-FFF2-40B4-BE49-F238E27FC236}">
                <a16:creationId xmlns:a16="http://schemas.microsoft.com/office/drawing/2014/main" id="{939EF022-0630-409A-8560-ACA921002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3248025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9144" tIns="9144" rIns="9144" bIns="9144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164E63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164E63"/>
                </a:solidFill>
                <a:latin typeface="Aptos"/>
                <a:ea typeface="Aptos"/>
                <a:cs typeface="Aptos"/>
              </a:rPr>
              <a:t>User Browser</a:t>
            </a:r>
            <a:endParaRPr sz="1100"/>
          </a:p>
        </p:txBody>
      </p:sp>
      <p:pic>
        <p:nvPicPr>
          <p:cNvPr id="200" name="Icon IGW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ff1fe46a9445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48200" y="3048000"/>
            <a:ext cx="514350" cy="514350"/>
          </a:xfrm>
          <a:prstGeom xmlns:a="http://schemas.openxmlformats.org/drawingml/2006/main" prst="rect">
            <a:avLst/>
          </a:prstGeom>
        </p:spPr>
      </p:pic>
      <p:sp>
        <p:nvSpPr>
          <p:cNvPr id="16" name="Label IGW">
            <a:extLst xmlns:a="http://schemas.openxmlformats.org/drawingml/2006/main">
              <a:ext uri="{FF2B5EF4-FFF2-40B4-BE49-F238E27FC236}">
                <a16:creationId xmlns:a16="http://schemas.microsoft.com/office/drawing/2014/main" id="{BF9C95A3-8F87-4CD6-B378-6BF68D4EF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00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9144" tIns="9144" rIns="9144" bIns="9144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164E63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164E63"/>
                </a:solidFill>
                <a:latin typeface="Aptos"/>
                <a:ea typeface="Aptos"/>
                <a:cs typeface="Aptos"/>
              </a:rPr>
              <a:t>IGW</a:t>
            </a:r>
            <a:endParaRPr sz="1100"/>
          </a:p>
        </p:txBody>
      </p:sp>
      <p:pic>
        <p:nvPicPr>
          <p:cNvPr id="202" name="Icon pixel-panic-api-prod-0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01dfc19708497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76875" y="2524125"/>
            <a:ext cx="514350" cy="514350"/>
          </a:xfrm>
          <a:prstGeom xmlns:a="http://schemas.openxmlformats.org/drawingml/2006/main" prst="rect">
            <a:avLst/>
          </a:prstGeom>
        </p:spPr>
      </p:pic>
      <p:sp>
        <p:nvSpPr>
          <p:cNvPr id="20" name="Label pixel-panic-api-prod-01">
            <a:extLst xmlns:a="http://schemas.openxmlformats.org/drawingml/2006/main">
              <a:ext uri="{FF2B5EF4-FFF2-40B4-BE49-F238E27FC236}">
                <a16:creationId xmlns:a16="http://schemas.microsoft.com/office/drawing/2014/main" id="{A63DAF34-28A9-45FA-B89B-294E1B489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067050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9144" tIns="9144" rIns="9144" bIns="9144" anchor="ctr">
            <a:normAutofit fontScale="9464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164E63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164E63"/>
                </a:solidFill>
                <a:latin typeface="Aptos"/>
                <a:ea typeface="Aptos"/>
                <a:cs typeface="Aptos"/>
              </a:rPr>
              <a:t>Compute VM</a:t>
            </a:r>
            <a:endParaRPr sz="1100"/>
          </a:p>
        </p:txBody>
      </p:sp>
      <p:sp>
        <p:nvSpPr>
          <p:cNvPr id="21" name="Legend">
            <a:extLst xmlns:a="http://schemas.openxmlformats.org/drawingml/2006/main">
              <a:ext uri="{FF2B5EF4-FFF2-40B4-BE49-F238E27FC236}">
                <a16:creationId xmlns:a16="http://schemas.microsoft.com/office/drawing/2014/main" id="{4FEF5851-A8BE-47E8-A714-DACB764E7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1143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45720" tIns="45720" rIns="45720" bIns="45720" anchor="ctr">
            <a:normAutofit fontScale="9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FF0000"/>
                </a:solidFill>
              </a:defRPr>
            </a:pPr>
            <a:r>
              <a:rPr sz="1000" b="0">
                <a:solidFill>
                  <a:srgbClr val="FF0000"/>
                </a:solidFill>
                <a:latin typeface="Aptos"/>
                <a:ea typeface="Aptos"/>
                <a:cs typeface="Aptos"/>
              </a:rPr>
              <a:t>본 문서는 AI 산출물이므로 정확하지 않을 수 있습니다. 반드시 검증 후 사용하십시오.</a:t>
            </a:r>
            <a:endParaRPr sz="1000"/>
          </a:p>
        </p:txBody>
      </p:sp>
      <p:sp>
        <p:nvSpPr>
          <p:cNvPr id="29" name="User Browser boundary">
            <a:extLst xmlns:a="http://schemas.openxmlformats.org/drawingml/2006/main">
              <a:ext uri="{FF2B5EF4-FFF2-40B4-BE49-F238E27FC236}">
                <a16:creationId xmlns:a16="http://schemas.microsoft.com/office/drawing/2014/main" id="{4248DC51-E180-4035-A197-11FB0787C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431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94A3B8"/>
            </a:solidFill>
            <a:prstDash val="solid"/>
          </a:ln>
        </p:spPr>
      </p:sp>
      <p:sp>
        <p:nvSpPr>
          <p:cNvPr id="30" name="Vercel Production boundary">
            <a:extLst xmlns:a="http://schemas.openxmlformats.org/drawingml/2006/main">
              <a:ext uri="{FF2B5EF4-FFF2-40B4-BE49-F238E27FC236}">
                <a16:creationId xmlns:a16="http://schemas.microsoft.com/office/drawing/2014/main" id="{B96A9FEC-7318-4FAE-9F08-42DD17830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838200"/>
            <a:ext cx="2762250" cy="462915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4288">
            <a:solidFill>
              <a:srgbClr val="2C5967"/>
            </a:solidFill>
            <a:prstDash val="solid"/>
          </a:ln>
        </p:spPr>
      </p:sp>
      <p:sp>
        <p:nvSpPr>
          <p:cNvPr id="31" name="Vercel cloud badge">
            <a:extLst xmlns:a="http://schemas.openxmlformats.org/drawingml/2006/main">
              <a:ext uri="{FF2B5EF4-FFF2-40B4-BE49-F238E27FC236}">
                <a16:creationId xmlns:a16="http://schemas.microsoft.com/office/drawing/2014/main" id="{DE45922B-E580-4840-BD23-99238EDC8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981075"/>
            <a:ext cx="361950" cy="266700"/>
          </a:xfrm>
          <a:prstGeom xmlns:a="http://schemas.openxmlformats.org/drawingml/2006/main" prst="cloud">
            <a:avLst/>
          </a:prstGeom>
          <a:solidFill xmlns:a="http://schemas.openxmlformats.org/drawingml/2006/main">
            <a:srgbClr val="0EA5E9"/>
          </a:solidFill>
          <a:ln xmlns:a="http://schemas.openxmlformats.org/drawingml/2006/main" w="9525">
            <a:solidFill>
              <a:srgbClr val="0369A1"/>
            </a:solidFill>
            <a:prstDash val="solid"/>
          </a:ln>
        </p:spPr>
      </p:sp>
      <p:sp>
        <p:nvSpPr>
          <p:cNvPr id="32" name="Vercel title">
            <a:extLst xmlns:a="http://schemas.openxmlformats.org/drawingml/2006/main">
              <a:ext uri="{FF2B5EF4-FFF2-40B4-BE49-F238E27FC236}">
                <a16:creationId xmlns:a16="http://schemas.microsoft.com/office/drawing/2014/main" id="{EB1156A2-BFDE-4DF6-A031-EFD87BC14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2975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64E63"/>
                </a:solidFill>
              </a:defRPr>
            </a:pPr>
            <a:r>
              <a:rPr sz="1425" b="1">
                <a:solidFill>
                  <a:srgbClr val="164E63"/>
                </a:solidFill>
              </a:rPr>
              <a:t>Vercel Production</a:t>
            </a:r>
          </a:p>
        </p:txBody>
      </p:sp>
      <p:sp>
        <p:nvSpPr>
          <p:cNvPr id="33" name="Next.js application">
            <a:extLst xmlns:a="http://schemas.openxmlformats.org/drawingml/2006/main">
              <a:ext uri="{FF2B5EF4-FFF2-40B4-BE49-F238E27FC236}">
                <a16:creationId xmlns:a16="http://schemas.microsoft.com/office/drawing/2014/main" id="{3317CAC6-74BE-4370-A222-60BD7F3F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1466850"/>
            <a:ext cx="23622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0F2FE"/>
          </a:solidFill>
          <a:ln xmlns:a="http://schemas.openxmlformats.org/drawingml/2006/main" w="14288">
            <a:solidFill>
              <a:srgbClr val="0284C7"/>
            </a:solidFill>
            <a:prstDash val="solid"/>
          </a:ln>
        </p:spPr>
      </p:sp>
      <p:sp>
        <p:nvSpPr>
          <p:cNvPr id="34" name="Next.js application title">
            <a:extLst xmlns:a="http://schemas.openxmlformats.org/drawingml/2006/main">
              <a:ext uri="{FF2B5EF4-FFF2-40B4-BE49-F238E27FC236}">
                <a16:creationId xmlns:a16="http://schemas.microsoft.com/office/drawing/2014/main" id="{EB485A56-5EF2-43F2-B60A-683E5F90A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1562100"/>
            <a:ext cx="207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75985"/>
                </a:solidFill>
              </a:defRPr>
            </a:pPr>
            <a:r>
              <a:rPr sz="1350" b="1">
                <a:solidFill>
                  <a:srgbClr val="075985"/>
                </a:solidFill>
              </a:rPr>
              <a:t>Next.js Application</a:t>
            </a:r>
          </a:p>
        </p:txBody>
      </p:sp>
      <p:sp>
        <p:nvSpPr>
          <p:cNvPr id="35" name="Next.js application detail">
            <a:extLst xmlns:a="http://schemas.openxmlformats.org/drawingml/2006/main">
              <a:ext uri="{FF2B5EF4-FFF2-40B4-BE49-F238E27FC236}">
                <a16:creationId xmlns:a16="http://schemas.microsoft.com/office/drawing/2014/main" id="{0BFD8329-0BBD-4ACB-A2F1-3413C0CBE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1857375"/>
            <a:ext cx="2076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0C4A6E"/>
                </a:solidFill>
              </a:defRPr>
            </a:pPr>
            <a:r>
              <a:rPr sz="1125" b="0">
                <a:solidFill>
                  <a:srgbClr val="0C4A6E"/>
                </a:solidFill>
              </a:rPr>
              <a:t>React 19 · Phaser game</a:t>
            </a:r>
          </a:p>
        </p:txBody>
      </p:sp>
      <p:sp>
        <p:nvSpPr>
          <p:cNvPr id="36" name="Plan server route">
            <a:extLst xmlns:a="http://schemas.openxmlformats.org/drawingml/2006/main">
              <a:ext uri="{FF2B5EF4-FFF2-40B4-BE49-F238E27FC236}">
                <a16:creationId xmlns:a16="http://schemas.microsoft.com/office/drawing/2014/main" id="{367760C6-B6F3-4551-9D49-102CFC2C6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600325"/>
            <a:ext cx="23622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14288">
            <a:solidFill>
              <a:srgbClr val="7C3AED"/>
            </a:solidFill>
            <a:prstDash val="solid"/>
          </a:ln>
        </p:spPr>
      </p:sp>
      <p:sp>
        <p:nvSpPr>
          <p:cNvPr id="37" name="Plan server route title">
            <a:extLst xmlns:a="http://schemas.openxmlformats.org/drawingml/2006/main">
              <a:ext uri="{FF2B5EF4-FFF2-40B4-BE49-F238E27FC236}">
                <a16:creationId xmlns:a16="http://schemas.microsoft.com/office/drawing/2014/main" id="{8C16CA28-1DFF-4976-B83F-31AF36CB2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2705100"/>
            <a:ext cx="207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B21B6"/>
                </a:solidFill>
              </a:defRPr>
            </a:pPr>
            <a:r>
              <a:rPr sz="1350" b="1">
                <a:solidFill>
                  <a:srgbClr val="5B21B6"/>
                </a:solidFill>
              </a:rPr>
              <a:t>/api/dialogue Route</a:t>
            </a:r>
          </a:p>
        </p:txBody>
      </p:sp>
      <p:sp>
        <p:nvSpPr>
          <p:cNvPr id="38" name="Plan server route detail">
            <a:extLst xmlns:a="http://schemas.openxmlformats.org/drawingml/2006/main">
              <a:ext uri="{FF2B5EF4-FFF2-40B4-BE49-F238E27FC236}">
                <a16:creationId xmlns:a16="http://schemas.microsoft.com/office/drawing/2014/main" id="{1DF0900A-A28E-4C7E-86F3-C8B4D9722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3000375"/>
            <a:ext cx="2076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B21B6"/>
                </a:solidFill>
              </a:defRPr>
            </a:pPr>
            <a:r>
              <a:rPr sz="1050" b="0">
                <a:solidFill>
                  <a:srgbClr val="5B21B6"/>
                </a:solidFill>
              </a:rPr>
              <a:t>Dialogue proxy · request ID</a:t>
            </a:r>
          </a:p>
        </p:txBody>
      </p:sp>
      <p:sp>
        <p:nvSpPr>
          <p:cNvPr id="39" name="Vercel server-only secret">
            <a:extLst xmlns:a="http://schemas.openxmlformats.org/drawingml/2006/main">
              <a:ext uri="{FF2B5EF4-FFF2-40B4-BE49-F238E27FC236}">
                <a16:creationId xmlns:a16="http://schemas.microsoft.com/office/drawing/2014/main" id="{BDADCC35-334F-4480-A65F-0A23A96A0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3314700"/>
            <a:ext cx="20764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14288">
            <a:solidFill>
              <a:srgbClr val="A78BFA"/>
            </a:solidFill>
            <a:prstDash val="solid"/>
          </a:ln>
        </p:spPr>
      </p:sp>
      <p:sp>
        <p:nvSpPr>
          <p:cNvPr id="40" name="Vercel server-only secret label">
            <a:extLst xmlns:a="http://schemas.openxmlformats.org/drawingml/2006/main">
              <a:ext uri="{FF2B5EF4-FFF2-40B4-BE49-F238E27FC236}">
                <a16:creationId xmlns:a16="http://schemas.microsoft.com/office/drawing/2014/main" id="{151FFBA0-92D5-407D-9967-24630CABF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333750"/>
            <a:ext cx="190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6D28D9"/>
                </a:solidFill>
              </a:defRPr>
            </a:pPr>
            <a:r>
              <a:rPr sz="975" b="1">
                <a:solidFill>
                  <a:srgbClr val="6D28D9"/>
                </a:solidFill>
              </a:rPr>
              <a:t>Server-only OCI token</a:t>
            </a:r>
          </a:p>
        </p:txBody>
      </p:sp>
      <p:sp>
        <p:nvSpPr>
          <p:cNvPr id="41" name="LOCAL fallback">
            <a:extLst xmlns:a="http://schemas.openxmlformats.org/drawingml/2006/main">
              <a:ext uri="{FF2B5EF4-FFF2-40B4-BE49-F238E27FC236}">
                <a16:creationId xmlns:a16="http://schemas.microsoft.com/office/drawing/2014/main" id="{440E013D-F816-4628-AA2A-448FF377C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105275"/>
            <a:ext cx="2362200" cy="981075"/>
          </a:xfrm>
          <a:prstGeom xmlns:a="http://schemas.openxmlformats.org/drawingml/2006/main" prst="roundRect">
            <a:avLst>
              <a:gd name="adj" fmla="val 776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4288">
            <a:solidFill>
              <a:srgbClr val="D97706"/>
            </a:solidFill>
            <a:prstDash val="solid"/>
          </a:ln>
        </p:spPr>
      </p:sp>
      <p:sp>
        <p:nvSpPr>
          <p:cNvPr id="42" name="LOCAL fallback title">
            <a:extLst xmlns:a="http://schemas.openxmlformats.org/drawingml/2006/main">
              <a:ext uri="{FF2B5EF4-FFF2-40B4-BE49-F238E27FC236}">
                <a16:creationId xmlns:a16="http://schemas.microsoft.com/office/drawing/2014/main" id="{92F1BC17-28CA-4449-AD19-A75078E5E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200525"/>
            <a:ext cx="2076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9A3412"/>
                </a:solidFill>
              </a:defRPr>
            </a:pPr>
            <a:r>
              <a:rPr sz="1350" b="1">
                <a:solidFill>
                  <a:srgbClr val="9A3412"/>
                </a:solidFill>
              </a:rPr>
              <a:t>LOCAL Fallback</a:t>
            </a:r>
          </a:p>
        </p:txBody>
      </p:sp>
      <p:sp>
        <p:nvSpPr>
          <p:cNvPr id="43" name="LOCAL fallback detail">
            <a:extLst xmlns:a="http://schemas.openxmlformats.org/drawingml/2006/main">
              <a:ext uri="{FF2B5EF4-FFF2-40B4-BE49-F238E27FC236}">
                <a16:creationId xmlns:a16="http://schemas.microsoft.com/office/drawing/2014/main" id="{B1773102-2DC0-4EF7-B89A-FA60451AB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476750"/>
            <a:ext cx="20764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A3412"/>
                </a:solidFill>
              </a:defRPr>
            </a:pPr>
            <a:r>
              <a:rPr sz="975" b="0">
                <a:solidFill>
                  <a:srgbClr val="9A3412"/>
                </a:solidFill>
              </a:rPr>
              <a:t>Static dialogue fallback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9A3412"/>
                </a:solidFill>
              </a:defRPr>
            </a:pPr>
            <a:r>
              <a:rPr sz="975" b="0">
                <a:solidFill>
                  <a:srgbClr val="9A3412"/>
                </a:solidFill>
              </a:rPr>
              <a:t>Timeout · unavailable · 429 · 5xx · invalid schema</a:t>
            </a:r>
          </a:p>
        </p:txBody>
      </p:sp>
      <p:sp>
        <p:nvSpPr>
          <p:cNvPr id="44" name="Compute VM host boundary">
            <a:extLst xmlns:a="http://schemas.openxmlformats.org/drawingml/2006/main">
              <a:ext uri="{FF2B5EF4-FFF2-40B4-BE49-F238E27FC236}">
                <a16:creationId xmlns:a16="http://schemas.microsoft.com/office/drawing/2014/main" id="{529A7B3E-9AE7-4046-9CB2-027732D26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038350"/>
            <a:ext cx="2857500" cy="2781300"/>
          </a:xfrm>
          <a:prstGeom xmlns:a="http://schemas.openxmlformats.org/drawingml/2006/main" prst="roundRect">
            <a:avLst>
              <a:gd name="adj" fmla="val 274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456575"/>
            </a:solidFill>
            <a:prstDash val="solid"/>
          </a:ln>
        </p:spPr>
      </p:sp>
      <p:sp>
        <p:nvSpPr>
          <p:cNvPr id="45" name="Compute VM name">
            <a:extLst xmlns:a="http://schemas.openxmlformats.org/drawingml/2006/main">
              <a:ext uri="{FF2B5EF4-FFF2-40B4-BE49-F238E27FC236}">
                <a16:creationId xmlns:a16="http://schemas.microsoft.com/office/drawing/2014/main" id="{1064EDEB-C5AB-42D7-ACA4-2F218C833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152650"/>
            <a:ext cx="20669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4E63"/>
                </a:solidFill>
              </a:defRPr>
            </a:pPr>
            <a:r>
              <a:rPr sz="1275" b="1">
                <a:solidFill>
                  <a:srgbClr val="164E63"/>
                </a:solidFill>
              </a:rPr>
              <a:t>pixel-panic-api-prod-01</a:t>
            </a:r>
          </a:p>
        </p:txBody>
      </p:sp>
      <p:sp>
        <p:nvSpPr>
          <p:cNvPr id="46" name="Compute VM host label">
            <a:extLst xmlns:a="http://schemas.openxmlformats.org/drawingml/2006/main">
              <a:ext uri="{FF2B5EF4-FFF2-40B4-BE49-F238E27FC236}">
                <a16:creationId xmlns:a16="http://schemas.microsoft.com/office/drawing/2014/main" id="{4A3BBDC2-CB67-4576-BE68-82C44D42E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419350"/>
            <a:ext cx="20669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475569"/>
                </a:solidFill>
              </a:defRPr>
            </a:pPr>
            <a:r>
              <a:rPr sz="975" b="0">
                <a:solidFill>
                  <a:srgbClr val="475569"/>
                </a:solidFill>
              </a:rPr>
              <a:t>Ubuntu 22.04 · Public endpoint</a:t>
            </a:r>
          </a:p>
        </p:txBody>
      </p:sp>
      <p:sp>
        <p:nvSpPr>
          <p:cNvPr id="47" name="Host controls">
            <a:extLst xmlns:a="http://schemas.openxmlformats.org/drawingml/2006/main">
              <a:ext uri="{FF2B5EF4-FFF2-40B4-BE49-F238E27FC236}">
                <a16:creationId xmlns:a16="http://schemas.microsoft.com/office/drawing/2014/main" id="{0BDF05CC-97FA-4E28-AAAA-32000A0BF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90850"/>
            <a:ext cx="2476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4288">
            <a:solidFill>
              <a:srgbClr val="94A3B8"/>
            </a:solidFill>
            <a:prstDash val="solid"/>
          </a:ln>
        </p:spPr>
      </p:sp>
      <p:sp>
        <p:nvSpPr>
          <p:cNvPr id="48" name="Host controls label">
            <a:extLst xmlns:a="http://schemas.openxmlformats.org/drawingml/2006/main">
              <a:ext uri="{FF2B5EF4-FFF2-40B4-BE49-F238E27FC236}">
                <a16:creationId xmlns:a16="http://schemas.microsoft.com/office/drawing/2014/main" id="{27601681-88AA-48FC-865A-7DA681869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2895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334155"/>
                </a:solidFill>
              </a:defRPr>
            </a:pPr>
            <a:r>
              <a:rPr sz="900" b="0">
                <a:solidFill>
                  <a:srgbClr val="334155"/>
                </a:solidFill>
              </a:rPr>
              <a:t>UFW + iptables · systemd</a:t>
            </a:r>
          </a:p>
          <a:p xmlns:a="http://schemas.openxmlformats.org/drawingml/2006/main">
            <a:pPr algn="ctr">
              <a:buNone/>
              <a:defRPr sz="900" b="0">
                <a:solidFill>
                  <a:srgbClr val="334155"/>
                </a:solidFill>
              </a:defRPr>
            </a:pPr>
            <a:r>
              <a:rPr sz="900" b="0">
                <a:solidFill>
                  <a:srgbClr val="334155"/>
                </a:solidFill>
              </a:rPr>
              <a:t>Docker Compose · healthcheck · restart</a:t>
            </a:r>
          </a:p>
          <a:p xmlns:a="http://schemas.openxmlformats.org/drawingml/2006/main">
            <a:pPr algn="ctr">
              <a:buNone/>
              <a:defRPr sz="900" b="0">
                <a:solidFill>
                  <a:srgbClr val="334155"/>
                </a:solidFill>
              </a:defRPr>
            </a:pPr>
            <a:r>
              <a:rPr sz="900" b="0">
                <a:solidFill>
                  <a:srgbClr val="334155"/>
                </a:solidFill>
              </a:rPr>
              <a:t>logs: 10MB × 3</a:t>
            </a:r>
          </a:p>
        </p:txBody>
      </p:sp>
      <p:sp>
        <p:nvSpPr>
          <p:cNvPr id="49" name="pixel-panic-api container">
            <a:extLst xmlns:a="http://schemas.openxmlformats.org/drawingml/2006/main">
              <a:ext uri="{FF2B5EF4-FFF2-40B4-BE49-F238E27FC236}">
                <a16:creationId xmlns:a16="http://schemas.microsoft.com/office/drawing/2014/main" id="{05AF2EFF-8B2F-490B-B37B-D93CE1FAA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09975"/>
            <a:ext cx="2476500" cy="790575"/>
          </a:xfrm>
          <a:prstGeom xmlns:a="http://schemas.openxmlformats.org/drawingml/2006/main" prst="roundRect">
            <a:avLst>
              <a:gd name="adj" fmla="val 9639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14288">
            <a:solidFill>
              <a:srgbClr val="0891B2"/>
            </a:solidFill>
            <a:prstDash val="solid"/>
          </a:ln>
        </p:spPr>
      </p:sp>
      <p:sp>
        <p:nvSpPr>
          <p:cNvPr id="50" name="API container title">
            <a:extLst xmlns:a="http://schemas.openxmlformats.org/drawingml/2006/main">
              <a:ext uri="{FF2B5EF4-FFF2-40B4-BE49-F238E27FC236}">
                <a16:creationId xmlns:a16="http://schemas.microsoft.com/office/drawing/2014/main" id="{31B1EF80-807D-46CF-A7CA-359992E8E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576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55E75"/>
                </a:solidFill>
              </a:defRPr>
            </a:pPr>
            <a:r>
              <a:rPr sz="1125" b="1">
                <a:solidFill>
                  <a:srgbClr val="155E75"/>
                </a:solidFill>
              </a:rPr>
              <a:t>pixel-panic-api container</a:t>
            </a:r>
          </a:p>
        </p:txBody>
      </p:sp>
      <p:sp>
        <p:nvSpPr>
          <p:cNvPr id="51" name="API container detail">
            <a:extLst xmlns:a="http://schemas.openxmlformats.org/drawingml/2006/main">
              <a:ext uri="{FF2B5EF4-FFF2-40B4-BE49-F238E27FC236}">
                <a16:creationId xmlns:a16="http://schemas.microsoft.com/office/drawing/2014/main" id="{FFD7FD03-7675-4387-9B8A-1F24B6DA5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86200"/>
            <a:ext cx="2286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155E75"/>
                </a:solidFill>
              </a:defRPr>
            </a:pPr>
            <a:r>
              <a:rPr sz="900" b="0">
                <a:solidFill>
                  <a:srgbClr val="155E75"/>
                </a:solidFill>
              </a:rPr>
              <a:t>Node.js 20 · Fastify · :8080</a:t>
            </a:r>
          </a:p>
          <a:p xmlns:a="http://schemas.openxmlformats.org/drawingml/2006/main">
            <a:pPr algn="ctr">
              <a:buNone/>
              <a:defRPr sz="900" b="0">
                <a:solidFill>
                  <a:srgbClr val="155E75"/>
                </a:solidFill>
              </a:defRPr>
            </a:pPr>
            <a:r>
              <a:rPr sz="900" b="0">
                <a:solidFill>
                  <a:srgbClr val="155E75"/>
                </a:solidFill>
              </a:rPr>
              <a:t>/health · /api/dialogue</a:t>
            </a:r>
          </a:p>
          <a:p xmlns:a="http://schemas.openxmlformats.org/drawingml/2006/main">
            <a:pPr algn="ctr">
              <a:buNone/>
              <a:defRPr sz="900" b="0">
                <a:solidFill>
                  <a:srgbClr val="155E75"/>
                </a:solidFill>
              </a:defRPr>
            </a:pPr>
            <a:r>
              <a:rPr sz="900" b="0">
                <a:solidFill>
                  <a:srgbClr val="155E75"/>
                </a:solidFill>
              </a:rPr>
              <a:t>Auth · rate limit · schema · request ID logs</a:t>
            </a:r>
          </a:p>
        </p:txBody>
      </p:sp>
      <p:sp>
        <p:nvSpPr>
          <p:cNvPr id="52" name="Server-only Secrets">
            <a:extLst xmlns:a="http://schemas.openxmlformats.org/drawingml/2006/main">
              <a:ext uri="{FF2B5EF4-FFF2-40B4-BE49-F238E27FC236}">
                <a16:creationId xmlns:a16="http://schemas.microsoft.com/office/drawing/2014/main" id="{28653B3F-F65A-492B-A10E-B68020706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38650"/>
            <a:ext cx="247650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4288">
            <a:solidFill>
              <a:srgbClr val="C2410C"/>
            </a:solidFill>
            <a:prstDash val="solid"/>
          </a:ln>
        </p:spPr>
      </p:sp>
      <p:sp>
        <p:nvSpPr>
          <p:cNvPr id="53" name="Server-only Secrets label">
            <a:extLst xmlns:a="http://schemas.openxmlformats.org/drawingml/2006/main">
              <a:ext uri="{FF2B5EF4-FFF2-40B4-BE49-F238E27FC236}">
                <a16:creationId xmlns:a16="http://schemas.microsoft.com/office/drawing/2014/main" id="{7D201302-7F78-4B40-A2C3-629D1EB5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448175"/>
            <a:ext cx="23622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863" b="1">
                <a:solidFill>
                  <a:srgbClr val="9A3412"/>
                </a:solidFill>
              </a:defRPr>
            </a:pPr>
            <a:r>
              <a:rPr sz="863" b="1">
                <a:solidFill>
                  <a:srgbClr val="9A3412"/>
                </a:solidFill>
              </a:rPr>
              <a:t>Server-only Secrets</a:t>
            </a:r>
          </a:p>
          <a:p xmlns:a="http://schemas.openxmlformats.org/drawingml/2006/main">
            <a:pPr algn="ctr">
              <a:buNone/>
              <a:defRPr sz="863" b="1">
                <a:solidFill>
                  <a:srgbClr val="9A3412"/>
                </a:solidFill>
              </a:defRPr>
            </a:pPr>
            <a:r>
              <a:rPr sz="863" b="1">
                <a:solidFill>
                  <a:srgbClr val="9A3412"/>
                </a:solidFill>
              </a:rPr>
              <a:t>/etc/pixel-panic/backend.env</a:t>
            </a:r>
          </a:p>
        </p:txBody>
      </p:sp>
      <p:sp>
        <p:nvSpPr>
          <p:cNvPr id="54" name="OpenAI API boundary">
            <a:extLst xmlns:a="http://schemas.openxmlformats.org/drawingml/2006/main">
              <a:ext uri="{FF2B5EF4-FFF2-40B4-BE49-F238E27FC236}">
                <a16:creationId xmlns:a16="http://schemas.microsoft.com/office/drawing/2014/main" id="{2382A9A2-2B41-4BA8-8836-9CC246AEA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266950"/>
            <a:ext cx="161925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14288">
            <a:solidFill>
              <a:srgbClr val="059669"/>
            </a:solidFill>
            <a:prstDash val="solid"/>
          </a:ln>
        </p:spPr>
      </p:sp>
      <p:sp>
        <p:nvSpPr>
          <p:cNvPr id="55" name="OpenAI generic API badge">
            <a:extLst xmlns:a="http://schemas.openxmlformats.org/drawingml/2006/main">
              <a:ext uri="{FF2B5EF4-FFF2-40B4-BE49-F238E27FC236}">
                <a16:creationId xmlns:a16="http://schemas.microsoft.com/office/drawing/2014/main" id="{96783804-839D-4F71-9F97-6FAEBFF63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2428875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4288">
            <a:solidFill>
              <a:srgbClr val="047857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AI</a:t>
            </a:r>
          </a:p>
        </p:txBody>
      </p:sp>
      <p:sp>
        <p:nvSpPr>
          <p:cNvPr id="56" name="OpenAI Responses API label">
            <a:extLst xmlns:a="http://schemas.openxmlformats.org/drawingml/2006/main">
              <a:ext uri="{FF2B5EF4-FFF2-40B4-BE49-F238E27FC236}">
                <a16:creationId xmlns:a16="http://schemas.microsoft.com/office/drawing/2014/main" id="{83F01FE1-0847-4E84-912A-776C50C5D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3105150"/>
            <a:ext cx="1390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65F46"/>
                </a:solidFill>
              </a:defRPr>
            </a:pPr>
            <a:r>
              <a:rPr sz="1350" b="1">
                <a:solidFill>
                  <a:srgbClr val="065F46"/>
                </a:solidFill>
              </a:rPr>
              <a:t>OpenAI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065F46"/>
                </a:solidFill>
              </a:defRPr>
            </a:pPr>
            <a:r>
              <a:rPr sz="1350" b="1">
                <a:solidFill>
                  <a:srgbClr val="065F46"/>
                </a:solidFill>
              </a:rPr>
              <a:t>Responses API</a:t>
            </a:r>
          </a:p>
        </p:txBody>
      </p:sp>
      <p:sp>
        <p:nvSpPr>
          <p:cNvPr id="57" name="IGW connector anchor">
            <a:extLst xmlns:a="http://schemas.openxmlformats.org/drawingml/2006/main">
              <a:ext uri="{FF2B5EF4-FFF2-40B4-BE49-F238E27FC236}">
                <a16:creationId xmlns:a16="http://schemas.microsoft.com/office/drawing/2014/main" id="{891DCFA9-304C-4E20-9D81-71BD8C83C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04800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234" name=""/>
          <p:cNvCxnSpPr>
            <a:stCxn xmlns:a="http://schemas.openxmlformats.org/drawingml/2006/main" id="29" idx="3"/>
            <a:endCxn xmlns:a="http://schemas.openxmlformats.org/drawingml/2006/main" id="33" idx="1"/>
          </p:cNvCxnSpPr>
          <p:nvPr/>
        </p:nvCxnSpPr>
        <p:spPr>
          <a:xfrm xmlns:a="http://schemas.openxmlformats.org/drawingml/2006/main" flipV="1">
            <a:off x="1219200" y="1885950"/>
            <a:ext cx="361950" cy="113347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284C7"/>
            </a:solidFill>
            <a:prstDash val="solid"/>
            <a:tailEnd type="arrow" w="med" len="med"/>
          </a:ln>
        </p:spPr>
      </p:cxnSp>
      <p:cxnSp>
        <p:nvCxnSpPr>
          <p:cNvPr id="235" name=""/>
          <p:cNvCxnSpPr>
            <a:stCxn xmlns:a="http://schemas.openxmlformats.org/drawingml/2006/main" id="33" idx="2"/>
            <a:endCxn xmlns:a="http://schemas.openxmlformats.org/drawingml/2006/main" id="36" idx="0"/>
          </p:cNvCxnSpPr>
          <p:nvPr/>
        </p:nvCxnSpPr>
        <p:spPr>
          <a:xfrm xmlns:a="http://schemas.openxmlformats.org/drawingml/2006/main">
            <a:off x="2762250" y="2305050"/>
            <a:ext cx="0" cy="2952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284C7"/>
            </a:solidFill>
            <a:prstDash val="solid"/>
            <a:tailEnd type="arrow" w="sm" len="sm"/>
          </a:ln>
        </p:spPr>
      </p:cxnSp>
      <p:cxnSp>
        <p:nvCxnSpPr>
          <p:cNvPr id="236" name=""/>
          <p:cNvCxnSpPr>
            <a:stCxn xmlns:a="http://schemas.openxmlformats.org/drawingml/2006/main" id="36" idx="2"/>
            <a:endCxn xmlns:a="http://schemas.openxmlformats.org/drawingml/2006/main" id="41" idx="0"/>
          </p:cNvCxnSpPr>
          <p:nvPr/>
        </p:nvCxnSpPr>
        <p:spPr>
          <a:xfrm xmlns:a="http://schemas.openxmlformats.org/drawingml/2006/main">
            <a:off x="2762250" y="3724275"/>
            <a:ext cx="0" cy="381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4748B"/>
            </a:solidFill>
            <a:prstDash val="dash"/>
            <a:tailEnd type="arrow" w="sm" len="sm"/>
          </a:ln>
        </p:spPr>
      </p:cxnSp>
      <p:cxnSp>
        <p:nvCxnSpPr>
          <p:cNvPr id="237" name=""/>
          <p:cNvCxnSpPr>
            <a:stCxn xmlns:a="http://schemas.openxmlformats.org/drawingml/2006/main" id="36" idx="3"/>
            <a:endCxn xmlns:a="http://schemas.openxmlformats.org/drawingml/2006/main" id="57" idx="1"/>
          </p:cNvCxnSpPr>
          <p:nvPr/>
        </p:nvCxnSpPr>
        <p:spPr>
          <a:xfrm xmlns:a="http://schemas.openxmlformats.org/drawingml/2006/main">
            <a:off x="3943350" y="3162300"/>
            <a:ext cx="704850" cy="14287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EA580C"/>
            </a:solidFill>
            <a:prstDash val="solid"/>
            <a:tailEnd type="arrow" w="med" len="med"/>
          </a:ln>
        </p:spPr>
      </p:cxnSp>
      <p:cxnSp>
        <p:nvCxnSpPr>
          <p:cNvPr id="238" name=""/>
          <p:cNvCxnSpPr>
            <a:stCxn xmlns:a="http://schemas.openxmlformats.org/drawingml/2006/main" id="57" idx="3"/>
            <a:endCxn xmlns:a="http://schemas.openxmlformats.org/drawingml/2006/main" id="44" idx="1"/>
          </p:cNvCxnSpPr>
          <p:nvPr/>
        </p:nvCxnSpPr>
        <p:spPr>
          <a:xfrm xmlns:a="http://schemas.openxmlformats.org/drawingml/2006/main">
            <a:off x="5162550" y="3305175"/>
            <a:ext cx="838200" cy="1238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EA580C"/>
            </a:solidFill>
            <a:prstDash val="solid"/>
            <a:tailEnd type="arrow" w="med" len="med"/>
          </a:ln>
        </p:spPr>
      </p:cxnSp>
      <p:cxnSp>
        <p:nvCxnSpPr>
          <p:cNvPr id="239" name=""/>
          <p:cNvCxnSpPr>
            <a:stCxn xmlns:a="http://schemas.openxmlformats.org/drawingml/2006/main" id="49" idx="3"/>
            <a:endCxn xmlns:a="http://schemas.openxmlformats.org/drawingml/2006/main" id="54" idx="1"/>
          </p:cNvCxnSpPr>
          <p:nvPr/>
        </p:nvCxnSpPr>
        <p:spPr>
          <a:xfrm xmlns:a="http://schemas.openxmlformats.org/drawingml/2006/main" flipV="1">
            <a:off x="8667750" y="3057525"/>
            <a:ext cx="1619250" cy="947738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59669"/>
            </a:solidFill>
            <a:prstDash val="solid"/>
            <a:tailEnd type="arrow" w="med" len="med"/>
          </a:ln>
        </p:spPr>
      </p:cxnSp>
      <p:sp>
        <p:nvSpPr>
          <p:cNvPr id="64" name="Browser to Vercel protocol">
            <a:extLst xmlns:a="http://schemas.openxmlformats.org/drawingml/2006/main">
              <a:ext uri="{FF2B5EF4-FFF2-40B4-BE49-F238E27FC236}">
                <a16:creationId xmlns:a16="http://schemas.microsoft.com/office/drawing/2014/main" id="{9C3A2FD7-E622-4DC7-A209-D53F91F90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5740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369A1"/>
                </a:solidFill>
              </a:defRPr>
            </a:pPr>
            <a:r>
              <a:rPr sz="975" b="1">
                <a:solidFill>
                  <a:srgbClr val="0369A1"/>
                </a:solidFill>
              </a:rPr>
              <a:t>HTTPS 443</a:t>
            </a:r>
          </a:p>
        </p:txBody>
      </p:sp>
      <p:sp>
        <p:nvSpPr>
          <p:cNvPr id="65" name="Vercel to OCI protocol">
            <a:extLst xmlns:a="http://schemas.openxmlformats.org/drawingml/2006/main">
              <a:ext uri="{FF2B5EF4-FFF2-40B4-BE49-F238E27FC236}">
                <a16:creationId xmlns:a16="http://schemas.microsoft.com/office/drawing/2014/main" id="{A0FBE5A2-07CA-4543-BB25-D528E8363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400300"/>
            <a:ext cx="1200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C2410C"/>
                </a:solidFill>
              </a:defRPr>
            </a:pPr>
            <a:r>
              <a:rPr sz="975" b="1">
                <a:solidFill>
                  <a:srgbClr val="C2410C"/>
                </a:solidFill>
              </a:rPr>
              <a:t>HTTP 8080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C2410C"/>
                </a:solidFill>
              </a:defRPr>
            </a:pPr>
            <a:r>
              <a:rPr sz="975" b="1">
                <a:solidFill>
                  <a:srgbClr val="C2410C"/>
                </a:solidFill>
              </a:rPr>
              <a:t>+ Bearer</a:t>
            </a:r>
          </a:p>
        </p:txBody>
      </p:sp>
      <p:sp>
        <p:nvSpPr>
          <p:cNvPr id="66" name="OCI to OpenAI protocol">
            <a:extLst xmlns:a="http://schemas.openxmlformats.org/drawingml/2006/main">
              <a:ext uri="{FF2B5EF4-FFF2-40B4-BE49-F238E27FC236}">
                <a16:creationId xmlns:a16="http://schemas.microsoft.com/office/drawing/2014/main" id="{2BA0AE29-207C-4DB6-B27F-81CEDF505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35433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47857"/>
                </a:solidFill>
              </a:defRPr>
            </a:pPr>
            <a:r>
              <a:rPr sz="975" b="1">
                <a:solidFill>
                  <a:srgbClr val="047857"/>
                </a:solidFill>
              </a:rPr>
              <a:t>HTTPS 443</a:t>
            </a:r>
          </a:p>
        </p:txBody>
      </p:sp>
      <p:sp>
        <p:nvSpPr>
          <p:cNvPr id="67" name="Fallback reason label">
            <a:extLst xmlns:a="http://schemas.openxmlformats.org/drawingml/2006/main">
              <a:ext uri="{FF2B5EF4-FFF2-40B4-BE49-F238E27FC236}">
                <a16:creationId xmlns:a16="http://schemas.microsoft.com/office/drawing/2014/main" id="{EDE19F12-8FA9-4724-8C31-427D224D1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75285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63" b="0">
                <a:solidFill>
                  <a:srgbClr val="64748B"/>
                </a:solidFill>
              </a:defRPr>
            </a:pPr>
            <a:r>
              <a:rPr sz="863" b="0">
                <a:solidFill>
                  <a:srgbClr val="64748B"/>
                </a:solidFill>
              </a:rPr>
              <a:t>timeout / 429 / 5xx</a:t>
            </a:r>
          </a:p>
        </p:txBody>
      </p:sp>
      <p:sp>
        <p:nvSpPr>
          <p:cNvPr id="68" name="Deployment path note">
            <a:extLst xmlns:a="http://schemas.openxmlformats.org/drawingml/2006/main">
              <a:ext uri="{FF2B5EF4-FFF2-40B4-BE49-F238E27FC236}">
                <a16:creationId xmlns:a16="http://schemas.microsoft.com/office/drawing/2014/main" id="{EEFDD100-2421-4964-8BF6-720CCC14C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905500"/>
            <a:ext cx="8620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38" b="0">
                <a:solidFill>
                  <a:srgbClr val="64748B"/>
                </a:solidFill>
              </a:defRPr>
            </a:pPr>
            <a:r>
              <a:rPr sz="938" b="0">
                <a:solidFill>
                  <a:srgbClr val="64748B"/>
                </a:solidFill>
              </a:rPr>
              <a:t>Deployment · GitHub main → Vercel Auto Deploy   ·   approved main commit → OCI manual fetch/checkout + systemd reload</a:t>
            </a:r>
          </a:p>
        </p:txBody>
      </p:sp>
    </p:spTree>
    <p:extLst>
      <p:ext uri="{BB962C8B-B14F-4D97-AF65-F5344CB8AC3E}">
        <p14:creationId xmlns:p14="http://schemas.microsoft.com/office/powerpoint/2010/main" val="95847162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Background">
            <a:extLst xmlns:a="http://schemas.openxmlformats.org/drawingml/2006/main">
              <a:ext uri="{FF2B5EF4-FFF2-40B4-BE49-F238E27FC236}">
                <a16:creationId xmlns:a16="http://schemas.microsoft.com/office/drawing/2014/main" id="{AF54AAA5-BCDF-4C27-9A3C-E4189800A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>
            <a:noFill/>
          </a:ln>
        </p:spPr>
      </p:sp>
      <p:sp>
        <p:nvSpPr>
          <p:cNvPr id="3" name="Notes title">
            <a:extLst xmlns:a="http://schemas.openxmlformats.org/drawingml/2006/main">
              <a:ext uri="{FF2B5EF4-FFF2-40B4-BE49-F238E27FC236}">
                <a16:creationId xmlns:a16="http://schemas.microsoft.com/office/drawing/2014/main" id="{3BB95D12-4BF3-430F-88F6-B31B104B8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20040"/>
            <a:ext cx="1078992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45720" tIns="45720" rIns="45720" bIns="4572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가정, 보안 및 렌더링 노트</a:t>
            </a:r>
            <a:endParaRPr sz="2100"/>
          </a:p>
        </p:txBody>
      </p:sp>
      <p:sp>
        <p:nvSpPr>
          <p:cNvPr id="4" name="Assumptions box">
            <a:extLst xmlns:a="http://schemas.openxmlformats.org/drawingml/2006/main">
              <a:ext uri="{FF2B5EF4-FFF2-40B4-BE49-F238E27FC236}">
                <a16:creationId xmlns:a16="http://schemas.microsoft.com/office/drawing/2014/main" id="{FD85D659-DA5E-47EF-B39B-442760EE9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005840"/>
            <a:ext cx="534924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</a:ln>
        </p:spPr>
      </p:sp>
      <p:sp>
        <p:nvSpPr>
          <p:cNvPr id="5" name="Assumptions">
            <a:extLst xmlns:a="http://schemas.openxmlformats.org/drawingml/2006/main">
              <a:ext uri="{FF2B5EF4-FFF2-40B4-BE49-F238E27FC236}">
                <a16:creationId xmlns:a16="http://schemas.microsoft.com/office/drawing/2014/main" id="{0EDDA6FB-792D-4FE3-AFBA-EE179B32D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170432"/>
            <a:ext cx="498348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45720" tIns="45720" rIns="4572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374151"/>
                </a:solidFill>
                <a:latin typeface="Aptos"/>
                <a:ea typeface="Aptos"/>
                <a:cs typeface="Aptos"/>
              </a:rPr>
              <a:t>가정</a:t>
            </a:r>
            <a:endParaRPr sz="1000"/>
          </a:p>
          <a:p xmlns:a="http://schemas.openxmlformats.org/drawingml/2006/main">
            <a:pPr algn="l">
              <a:buNone/>
            </a:pPr>
            <a:r>
              <a:rPr sz="1000">
                <a:solidFill>
                  <a:srgbClr val="374151"/>
                </a:solidFill>
                <a:latin typeface="Aptos"/>
                <a:ea typeface="Aptos"/>
                <a:cs typeface="Aptos"/>
              </a:rPr>
              <a:t>- 현행 예선 배포 구조를 문서화한 actual-state 모델이며 권장 미래 구성을 추가하지 않습니다.</a:t>
            </a:r>
            <a:endParaRPr sz="1000"/>
          </a:p>
          <a:p xmlns:a="http://schemas.openxmlformats.org/drawingml/2006/main">
            <a:pPr algn="l">
              <a:buNone/>
            </a:pPr>
            <a:r>
              <a:rPr sz="1000">
                <a:solidFill>
                  <a:srgbClr val="374151"/>
                </a:solidFill>
                <a:latin typeface="Aptos"/>
                <a:ea typeface="Aptos"/>
                <a:cs typeface="Aptos"/>
              </a:rPr>
              <a:t>- OCI Region, VCN/Subnet CIDR, Security List와 NSG의 실제 이름, AD/FD는 공개 문서에서 확인되지 않았습니다.</a:t>
            </a:r>
            <a:endParaRPr sz="1000"/>
          </a:p>
          <a:p xmlns:a="http://schemas.openxmlformats.org/drawingml/2006/main">
            <a:pPr algn="l">
              <a:buNone/>
            </a:pPr>
            <a:r>
              <a:rPr sz="1000">
                <a:solidFill>
                  <a:srgbClr val="374151"/>
                </a:solidFill>
                <a:latin typeface="Aptos"/>
                <a:ea typeface="Aptos"/>
                <a:cs typeface="Aptos"/>
              </a:rPr>
              <a:t>- 브라우저는 대사 이벤트에서 Vercel same-origin /api/dialogue만 호출하며 OCI VM이나 OpenAI를 직접 호출하지 않습니다.</a:t>
            </a:r>
            <a:endParaRPr sz="1000"/>
          </a:p>
        </p:txBody>
      </p:sp>
      <p:sp>
        <p:nvSpPr>
          <p:cNvPr id="6" name="Security box">
            <a:extLst xmlns:a="http://schemas.openxmlformats.org/drawingml/2006/main">
              <a:ext uri="{FF2B5EF4-FFF2-40B4-BE49-F238E27FC236}">
                <a16:creationId xmlns:a16="http://schemas.microsoft.com/office/drawing/2014/main" id="{51799296-9AAC-4460-8AA0-F6208FA68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005840"/>
            <a:ext cx="534924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</a:ln>
        </p:spPr>
      </p:sp>
      <p:sp>
        <p:nvSpPr>
          <p:cNvPr id="7" name="Security notes">
            <a:extLst xmlns:a="http://schemas.openxmlformats.org/drawingml/2006/main">
              <a:ext uri="{FF2B5EF4-FFF2-40B4-BE49-F238E27FC236}">
                <a16:creationId xmlns:a16="http://schemas.microsoft.com/office/drawing/2014/main" id="{0E2F38D5-C7AC-41E3-88C4-4A74B699F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170432"/>
            <a:ext cx="498348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45720" tIns="45720" rIns="4572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현행 아키텍처와 보안</a:t>
            </a:r>
            <a:endParaRPr sz="1000"/>
          </a:p>
          <a:p xmlns:a="http://schemas.openxmlformats.org/drawingml/2006/main">
            <a:pPr algn="l">
              <a:buNone/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- 게임 판정은 브라우저의 결정론적 엔진이 수행하고 AI는 4개 대사 이벤트에만 사용합니다.</a:t>
            </a:r>
            <a:endParaRPr sz="1000"/>
          </a:p>
          <a:p xmlns:a="http://schemas.openxmlformats.org/drawingml/2006/main">
            <a:pPr algn="l">
              <a:buNone/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- Vercel 서버 Route는 HTTP 8080 + Bearer로 OCI /api/dialogue를 호출합니다.</a:t>
            </a:r>
            <a:endParaRPr sz="1000"/>
          </a:p>
          <a:p xmlns:a="http://schemas.openxmlformats.org/drawingml/2006/main">
            <a:pPr algn="l">
              <a:buNone/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- OCI는 OpenAI Responses API를 HTTPS 443으로 호출하고 키를 저장소 밖에 둡니다.</a:t>
            </a:r>
            <a:endParaRPr sz="1000"/>
          </a:p>
          <a:p xmlns:a="http://schemas.openxmlformats.org/drawingml/2006/main">
            <a:pPr algn="l">
              <a:buNone/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- OCI timeout/장애/429/5xx/invalid schema에서는 정적 LOCAL 대사 fallback을 반환합니다.</a:t>
            </a:r>
            <a:endParaRPr sz="1000"/>
          </a:p>
          <a:p xmlns:a="http://schemas.openxmlformats.org/drawingml/2006/main">
            <a:pPr algn="l">
              <a:buNone/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- Fastify는 인증, schema 검증, rate/burst 제한, request ID 상관관계 로그를 적용합니다.</a:t>
            </a:r>
            <a:endParaRPr sz="1000"/>
          </a:p>
          <a:p xmlns:a="http://schemas.openxmlformats.org/drawingml/2006/main">
            <a:pPr algn="l">
              <a:buNone/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- 현행 편차: Public 단일 VM이며 Bastion/LB/WAF/HA/TLS 종단이 없습니다.</a:t>
            </a:r>
            <a:endParaRPr sz="1000"/>
          </a:p>
          <a:p xmlns:a="http://schemas.openxmlformats.org/drawingml/2006/main">
            <a:pPr algn="l">
              <a:buNone/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- Region/CIDR/Security List 또는 NSG/AD·FD는 확인되지 않아 추측하지 않았습니다.</a:t>
            </a:r>
            <a:endParaRPr sz="1000"/>
          </a:p>
        </p:txBody>
      </p:sp>
      <p:sp>
        <p:nvSpPr>
          <p:cNvPr id="8" name="Rendering box">
            <a:extLst xmlns:a="http://schemas.openxmlformats.org/drawingml/2006/main">
              <a:ext uri="{FF2B5EF4-FFF2-40B4-BE49-F238E27FC236}">
                <a16:creationId xmlns:a16="http://schemas.microsoft.com/office/drawing/2014/main" id="{5913C447-ADC7-4889-A192-C3955A7AC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169664"/>
            <a:ext cx="10972800" cy="1783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</a:ln>
        </p:spPr>
      </p:sp>
      <p:sp>
        <p:nvSpPr>
          <p:cNvPr id="9" name="Rendering notes">
            <a:extLst xmlns:a="http://schemas.openxmlformats.org/drawingml/2006/main">
              <a:ext uri="{FF2B5EF4-FFF2-40B4-BE49-F238E27FC236}">
                <a16:creationId xmlns:a16="http://schemas.microsoft.com/office/drawing/2014/main" id="{B35E3302-81D3-47B9-96D2-E81AD7A37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343400"/>
            <a:ext cx="10561320" cy="14264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45720" tIns="45720" rIns="4572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F2937"/>
                </a:solidFill>
              </a:defRPr>
            </a:pPr>
            <a:r>
              <a:rPr sz="112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렌더링 노트</a:t>
            </a:r>
            <a:endParaRPr sz="830"/>
          </a:p>
          <a:p xmlns:a="http://schemas.openxmlformats.org/drawingml/2006/main">
            <a:pPr algn="l">
              <a:buNone/>
              <a:defRPr sz="1125" b="0">
                <a:solidFill>
                  <a:srgbClr val="1F2937"/>
                </a:solidFill>
              </a:defRPr>
            </a:pPr>
            <a:r>
              <a:rPr sz="112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- OCI Region, VCN, Public Subnet, IGW, Compute는 OCI 스킬의 공식 컨테이너와 아이콘을 사용했습니다.</a:t>
            </a:r>
            <a:endParaRPr sz="830"/>
          </a:p>
          <a:p xmlns:a="http://schemas.openxmlformats.org/drawingml/2006/main">
            <a:pPr algn="l">
              <a:buNone/>
              <a:defRPr sz="1125" b="0">
                <a:solidFill>
                  <a:srgbClr val="1F2937"/>
                </a:solidFill>
              </a:defRPr>
            </a:pPr>
            <a:r>
              <a:rPr sz="112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- Vercel과 OpenAI는 OCI 밖의 편집 가능한 일반 Cloud/API 도형으로 표현했습니다.</a:t>
            </a:r>
            <a:endParaRPr sz="830"/>
          </a:p>
          <a:p xmlns:a="http://schemas.openxmlformats.org/drawingml/2006/main">
            <a:pPr algn="l">
              <a:buNone/>
              <a:defRPr sz="1125" b="0">
                <a:solidFill>
                  <a:srgbClr val="1F2937"/>
                </a:solidFill>
              </a:defRPr>
            </a:pPr>
            <a:r>
              <a:rPr sz="112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- 현재 배포하지 않은 OCI Load Balancer, WAF, Bastion, NAT/Service Gateway, DB, OKE, Functions는 추가하지 않았습니다.</a:t>
            </a:r>
            <a:endParaRPr sz="830"/>
          </a:p>
          <a:p xmlns:a="http://schemas.openxmlformats.org/drawingml/2006/main">
            <a:pPr algn="l">
              <a:buNone/>
              <a:defRPr sz="1125" b="0">
                <a:solidFill>
                  <a:srgbClr val="1F2937"/>
                </a:solidFill>
              </a:defRPr>
            </a:pPr>
            <a:r>
              <a:rPr sz="112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- 실제 OCI 공인 IP, OCID, 키, 공유 토큰 값은 포함하지 않았습니다.</a:t>
            </a:r>
            <a:endParaRPr sz="830"/>
          </a:p>
        </p:txBody>
      </p:sp>
    </p:spTree>
    <p:extLst>
      <p:ext uri="{BB962C8B-B14F-4D97-AF65-F5344CB8AC3E}">
        <p14:creationId xmlns:p14="http://schemas.microsoft.com/office/powerpoint/2010/main" val="166164603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Background">
            <a:extLst xmlns:a="http://schemas.openxmlformats.org/drawingml/2006/main">
              <a:ext uri="{FF2B5EF4-FFF2-40B4-BE49-F238E27FC236}">
                <a16:creationId xmlns:a16="http://schemas.microsoft.com/office/drawing/2014/main" id="{848E382D-B040-444C-914A-A7EFF44F9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>
            <a:noFill/>
          </a:ln>
        </p:spPr>
      </p:sp>
      <p:sp>
        <p:nvSpPr>
          <p:cNvPr id="3" name="Advice title">
            <a:extLst xmlns:a="http://schemas.openxmlformats.org/drawingml/2006/main">
              <a:ext uri="{FF2B5EF4-FFF2-40B4-BE49-F238E27FC236}">
                <a16:creationId xmlns:a16="http://schemas.microsoft.com/office/drawing/2014/main" id="{6331B414-7F70-4C84-9356-B46F2D335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20040"/>
            <a:ext cx="1078992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45720" tIns="45720" rIns="45720" bIns="4572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운영 및 Best-Practice 체크포인트</a:t>
            </a:r>
            <a:endParaRPr sz="2000"/>
          </a:p>
        </p:txBody>
      </p:sp>
      <p:sp>
        <p:nvSpPr>
          <p:cNvPr id="4" name="Advice subtitle">
            <a:extLst xmlns:a="http://schemas.openxmlformats.org/drawingml/2006/main">
              <a:ext uri="{FF2B5EF4-FFF2-40B4-BE49-F238E27FC236}">
                <a16:creationId xmlns:a16="http://schemas.microsoft.com/office/drawing/2014/main" id="{7B393C2C-CF3B-4963-946E-1789BCDC4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68096"/>
            <a:ext cx="10881360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45720" tIns="45720" rIns="45720" bIns="45720" anchor="ctr">
            <a:normAutofit fontScale="74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475569"/>
                </a:solidFill>
              </a:defRPr>
            </a:pPr>
            <a:r>
              <a:rPr sz="11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현행 운영 확인과 대회 이후 개선 후보를 구분한 체크리스트입니다.</a:t>
            </a:r>
            <a:endParaRPr sz="919"/>
          </a:p>
        </p:txBody>
      </p:sp>
      <p:sp>
        <p:nvSpPr>
          <p:cNvPr id="5" name="Advice resilience box">
            <a:extLst xmlns:a="http://schemas.openxmlformats.org/drawingml/2006/main">
              <a:ext uri="{FF2B5EF4-FFF2-40B4-BE49-F238E27FC236}">
                <a16:creationId xmlns:a16="http://schemas.microsoft.com/office/drawing/2014/main" id="{2B5CBF2C-B80D-4331-846E-DEFF3BDBC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78992"/>
            <a:ext cx="3493008" cy="2048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</a:ln>
        </p:spPr>
      </p:sp>
      <p:sp>
        <p:nvSpPr>
          <p:cNvPr id="6" name="Advice resilience title">
            <a:extLst xmlns:a="http://schemas.openxmlformats.org/drawingml/2006/main">
              <a:ext uri="{FF2B5EF4-FFF2-40B4-BE49-F238E27FC236}">
                <a16:creationId xmlns:a16="http://schemas.microsoft.com/office/drawing/2014/main" id="{D11A7143-8D54-42FE-8343-AEEAD1511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197864"/>
            <a:ext cx="3200400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45720" tIns="45720" rIns="45720" bIns="4572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6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복원력 / DR</a:t>
            </a:r>
            <a:endParaRPr sz="1060"/>
          </a:p>
        </p:txBody>
      </p:sp>
      <p:sp>
        <p:nvSpPr>
          <p:cNvPr id="7" name="Advice resilience items">
            <a:extLst xmlns:a="http://schemas.openxmlformats.org/drawingml/2006/main">
              <a:ext uri="{FF2B5EF4-FFF2-40B4-BE49-F238E27FC236}">
                <a16:creationId xmlns:a16="http://schemas.microsoft.com/office/drawing/2014/main" id="{AD1E5FE6-5AAD-427E-8B36-16D59DBC9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17904"/>
            <a:ext cx="3163824" cy="1481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27432" tIns="27432" rIns="27432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- 현행: 단일 VM이며 Vercel LOCAL fallback이 게임 연속성을 보완합니다.</a:t>
            </a:r>
            <a:endParaRPr sz="780"/>
          </a:p>
          <a:p xmlns:a="http://schemas.openxmlformats.org/drawingml/2006/main">
            <a:pPr algn="l">
              <a:buNone/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- 현행: Docker healthcheck, restart unless-stopped, systemd 자동 기동을 사용합니다.</a:t>
            </a:r>
            <a:endParaRPr sz="780"/>
          </a:p>
          <a:p xmlns:a="http://schemas.openxmlformats.org/drawingml/2006/main">
            <a:pPr algn="l">
              <a:buNone/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- 이후 검토: HA 목표와 RTO/RPO, 복구 Runbook을 정의합니다.</a:t>
            </a:r>
            <a:endParaRPr sz="780"/>
          </a:p>
        </p:txBody>
      </p:sp>
      <p:sp>
        <p:nvSpPr>
          <p:cNvPr id="8" name="Advice security box">
            <a:extLst xmlns:a="http://schemas.openxmlformats.org/drawingml/2006/main">
              <a:ext uri="{FF2B5EF4-FFF2-40B4-BE49-F238E27FC236}">
                <a16:creationId xmlns:a16="http://schemas.microsoft.com/office/drawing/2014/main" id="{DB650ABE-703F-483D-A0E9-3726E381A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544" y="1078992"/>
            <a:ext cx="3493008" cy="2048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</a:ln>
        </p:spPr>
      </p:sp>
      <p:sp>
        <p:nvSpPr>
          <p:cNvPr id="9" name="Advice security title">
            <a:extLst xmlns:a="http://schemas.openxmlformats.org/drawingml/2006/main">
              <a:ext uri="{FF2B5EF4-FFF2-40B4-BE49-F238E27FC236}">
                <a16:creationId xmlns:a16="http://schemas.microsoft.com/office/drawing/2014/main" id="{60C07F53-7644-47B3-8136-DEF7D6E1D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848" y="1197864"/>
            <a:ext cx="3200400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45720" tIns="45720" rIns="45720" bIns="4572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6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보안 / 네트워크</a:t>
            </a:r>
            <a:endParaRPr sz="1060"/>
          </a:p>
        </p:txBody>
      </p:sp>
      <p:sp>
        <p:nvSpPr>
          <p:cNvPr id="10" name="Advice security items">
            <a:extLst xmlns:a="http://schemas.openxmlformats.org/drawingml/2006/main">
              <a:ext uri="{FF2B5EF4-FFF2-40B4-BE49-F238E27FC236}">
                <a16:creationId xmlns:a16="http://schemas.microsoft.com/office/drawing/2014/main" id="{1A2280F3-394D-4148-883D-7056C258B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7136" y="1517904"/>
            <a:ext cx="3163824" cy="1481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27432" tIns="27432" rIns="27432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- 현행: 비밀값은 Vercel/OCI 서버 전용으로 유지합니다.</a:t>
            </a:r>
            <a:endParaRPr sz="780"/>
          </a:p>
          <a:p xmlns:a="http://schemas.openxmlformats.org/drawingml/2006/main">
            <a:pPr algn="l">
              <a:buNone/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- 현행: OCI와 호스트 방화벽의 TCP 8080 및 DOCKER-USER 규칙을 함께 관리합니다.</a:t>
            </a:r>
            <a:endParaRPr sz="780"/>
          </a:p>
          <a:p xmlns:a="http://schemas.openxmlformats.org/drawingml/2006/main">
            <a:pPr algn="l">
              <a:buNone/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- 이후 검토: 공인 HTTP 8080 앞에 TLS 종단을 추가합니다.</a:t>
            </a:r>
            <a:endParaRPr sz="780"/>
          </a:p>
        </p:txBody>
      </p:sp>
      <p:sp>
        <p:nvSpPr>
          <p:cNvPr id="11" name="Advice operations box">
            <a:extLst xmlns:a="http://schemas.openxmlformats.org/drawingml/2006/main">
              <a:ext uri="{FF2B5EF4-FFF2-40B4-BE49-F238E27FC236}">
                <a16:creationId xmlns:a16="http://schemas.microsoft.com/office/drawing/2014/main" id="{60E13D89-82BE-461A-818D-DC3F2E137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078992"/>
            <a:ext cx="3493008" cy="2048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</a:ln>
        </p:spPr>
      </p:sp>
      <p:sp>
        <p:nvSpPr>
          <p:cNvPr id="12" name="Advice operations title">
            <a:extLst xmlns:a="http://schemas.openxmlformats.org/drawingml/2006/main">
              <a:ext uri="{FF2B5EF4-FFF2-40B4-BE49-F238E27FC236}">
                <a16:creationId xmlns:a16="http://schemas.microsoft.com/office/drawing/2014/main" id="{E0184533-A659-402E-B0EB-1472242B5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1197864"/>
            <a:ext cx="3200400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45720" tIns="45720" rIns="45720" bIns="4572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6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운영</a:t>
            </a:r>
            <a:endParaRPr sz="1060"/>
          </a:p>
        </p:txBody>
      </p:sp>
      <p:sp>
        <p:nvSpPr>
          <p:cNvPr id="13" name="Advice operations items">
            <a:extLst xmlns:a="http://schemas.openxmlformats.org/drawingml/2006/main">
              <a:ext uri="{FF2B5EF4-FFF2-40B4-BE49-F238E27FC236}">
                <a16:creationId xmlns:a16="http://schemas.microsoft.com/office/drawing/2014/main" id="{4AA23CA4-069F-4B88-8D2B-DC271DBE3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1517904"/>
            <a:ext cx="3163824" cy="1481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27432" tIns="27432" rIns="27432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- X-Request-Id로 Vercel과 OCI 로그를 연계합니다.</a:t>
            </a:r>
            <a:endParaRPr sz="780"/>
          </a:p>
          <a:p xmlns:a="http://schemas.openxmlformats.org/drawingml/2006/main">
            <a:pPr algn="l">
              <a:buNone/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- 로그는 10MB × 3으로 제한하고 /health와 fallback 훈련을 반복합니다.</a:t>
            </a:r>
            <a:endParaRPr sz="780"/>
          </a:p>
          <a:p xmlns:a="http://schemas.openxmlformats.org/drawingml/2006/main">
            <a:pPr algn="l">
              <a:buNone/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- 승인된 main 커밋만 수동 배포하고 reload 뒤 health를 확인합니다.</a:t>
            </a:r>
            <a:endParaRPr sz="780"/>
          </a:p>
        </p:txBody>
      </p:sp>
      <p:sp>
        <p:nvSpPr>
          <p:cNvPr id="14" name="Advice cost box">
            <a:extLst xmlns:a="http://schemas.openxmlformats.org/drawingml/2006/main">
              <a:ext uri="{FF2B5EF4-FFF2-40B4-BE49-F238E27FC236}">
                <a16:creationId xmlns:a16="http://schemas.microsoft.com/office/drawing/2014/main" id="{8D2E54B1-FB31-4943-B0DE-1EBFB95E9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383280"/>
            <a:ext cx="5349240" cy="21396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</a:ln>
        </p:spPr>
      </p:sp>
      <p:sp>
        <p:nvSpPr>
          <p:cNvPr id="15" name="Advice cost title">
            <a:extLst xmlns:a="http://schemas.openxmlformats.org/drawingml/2006/main">
              <a:ext uri="{FF2B5EF4-FFF2-40B4-BE49-F238E27FC236}">
                <a16:creationId xmlns:a16="http://schemas.microsoft.com/office/drawing/2014/main" id="{E0825020-51AE-4983-B4EE-4CF14E583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502152"/>
            <a:ext cx="5056632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45720" tIns="45720" rIns="45720" bIns="4572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6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비용 / 성능</a:t>
            </a:r>
            <a:endParaRPr sz="1060"/>
          </a:p>
        </p:txBody>
      </p:sp>
      <p:sp>
        <p:nvSpPr>
          <p:cNvPr id="16" name="Advice cost items">
            <a:extLst xmlns:a="http://schemas.openxmlformats.org/drawingml/2006/main">
              <a:ext uri="{FF2B5EF4-FFF2-40B4-BE49-F238E27FC236}">
                <a16:creationId xmlns:a16="http://schemas.microsoft.com/office/drawing/2014/main" id="{A6D726E3-6814-48C4-A610-D6ED12810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822192"/>
            <a:ext cx="5020056" cy="15727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27432" tIns="27432" rIns="27432" bIns="27432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780">
                <a:solidFill>
                  <a:srgbClr val="374151"/>
                </a:solidFill>
                <a:latin typeface="Aptos"/>
                <a:ea typeface="Aptos"/>
                <a:cs typeface="Aptos"/>
              </a:rPr>
              <a:t>- 예선 범위에서는 단일 Compute VM과 Vercel 배포로 구성 요소를 최소화합니다.</a:t>
            </a:r>
            <a:endParaRPr sz="780"/>
          </a:p>
          <a:p xmlns:a="http://schemas.openxmlformats.org/drawingml/2006/main">
            <a:pPr algn="l">
              <a:buNone/>
            </a:pPr>
            <a:r>
              <a:rPr sz="780">
                <a:solidFill>
                  <a:srgbClr val="374151"/>
                </a:solidFill>
                <a:latin typeface="Aptos"/>
                <a:ea typeface="Aptos"/>
                <a:cs typeface="Aptos"/>
              </a:rPr>
              <a:t>- 고가용성, 관리형 진입 계층, TLS 종단은 대회 이후 요구와 비용을 함께 검토합니다.</a:t>
            </a:r>
            <a:endParaRPr sz="780"/>
          </a:p>
        </p:txBody>
      </p:sp>
      <p:sp>
        <p:nvSpPr>
          <p:cNvPr id="17" name="Advice open box">
            <a:extLst xmlns:a="http://schemas.openxmlformats.org/drawingml/2006/main">
              <a:ext uri="{FF2B5EF4-FFF2-40B4-BE49-F238E27FC236}">
                <a16:creationId xmlns:a16="http://schemas.microsoft.com/office/drawing/2014/main" id="{B2EFB70F-923B-4CB5-98DE-CC98ACFC5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3383280"/>
            <a:ext cx="5431536" cy="21396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BD5E1"/>
            </a:solidFill>
          </a:ln>
        </p:spPr>
      </p:sp>
      <p:sp>
        <p:nvSpPr>
          <p:cNvPr id="18" name="Advice open title">
            <a:extLst xmlns:a="http://schemas.openxmlformats.org/drawingml/2006/main">
              <a:ext uri="{FF2B5EF4-FFF2-40B4-BE49-F238E27FC236}">
                <a16:creationId xmlns:a16="http://schemas.microsoft.com/office/drawing/2014/main" id="{5D4B1037-52E6-46C2-BEEB-4C2A2567F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3502152"/>
            <a:ext cx="5138928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45720" tIns="45720" rIns="45720" bIns="4572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6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확정 필요 사항</a:t>
            </a:r>
            <a:endParaRPr sz="1060"/>
          </a:p>
        </p:txBody>
      </p:sp>
      <p:sp>
        <p:nvSpPr>
          <p:cNvPr id="19" name="Advice open items">
            <a:extLst xmlns:a="http://schemas.openxmlformats.org/drawingml/2006/main">
              <a:ext uri="{FF2B5EF4-FFF2-40B4-BE49-F238E27FC236}">
                <a16:creationId xmlns:a16="http://schemas.microsoft.com/office/drawing/2014/main" id="{ABA095CE-68A0-425F-A727-200049D5B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3822192"/>
            <a:ext cx="5102352" cy="15727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27432" tIns="27432" rIns="27432" bIns="27432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F2937"/>
                </a:solidFill>
              </a:defRPr>
            </a:pPr>
            <a:r>
              <a:rPr sz="112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- OCI Region과 VCN/Subnet CIDR</a:t>
            </a:r>
            <a:endParaRPr sz="780"/>
          </a:p>
          <a:p xmlns:a="http://schemas.openxmlformats.org/drawingml/2006/main">
            <a:pPr algn="l">
              <a:buNone/>
              <a:defRPr sz="1125" b="0">
                <a:solidFill>
                  <a:srgbClr val="1F2937"/>
                </a:solidFill>
              </a:defRPr>
            </a:pPr>
            <a:r>
              <a:rPr sz="112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- Security List 또는 NSG 실제 이름과 AD/FD 배치</a:t>
            </a:r>
            <a:endParaRPr sz="780"/>
          </a:p>
          <a:p xmlns:a="http://schemas.openxmlformats.org/drawingml/2006/main">
            <a:pPr algn="l">
              <a:buNone/>
              <a:defRPr sz="1125" b="0">
                <a:solidFill>
                  <a:srgbClr val="1F2937"/>
                </a:solidFill>
              </a:defRPr>
            </a:pPr>
            <a:r>
              <a:rPr sz="112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- Vercel 고정 송신 IP 사용 여부와 TCP 8080 허용 소스</a:t>
            </a:r>
            <a:endParaRPr sz="780"/>
          </a:p>
          <a:p xmlns:a="http://schemas.openxmlformats.org/drawingml/2006/main">
            <a:pPr algn="l">
              <a:buNone/>
              <a:defRPr sz="1125" b="0">
                <a:solidFill>
                  <a:srgbClr val="1F2937"/>
                </a:solidFill>
              </a:defRPr>
            </a:pPr>
            <a:r>
              <a:rPr sz="112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- 대회 이후 TLS·HA·관리형 진입 계층 도입 범위</a:t>
            </a:r>
            <a:endParaRPr sz="780"/>
          </a:p>
        </p:txBody>
      </p:sp>
      <p:sp>
        <p:nvSpPr>
          <p:cNvPr id="20" name="Advice footer">
            <a:extLst xmlns:a="http://schemas.openxmlformats.org/drawingml/2006/main">
              <a:ext uri="{FF2B5EF4-FFF2-40B4-BE49-F238E27FC236}">
                <a16:creationId xmlns:a16="http://schemas.microsoft.com/office/drawing/2014/main" id="{F61BB216-E3D7-4993-B7D1-8F4075CEF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72784"/>
            <a:ext cx="10972800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45720" tIns="45720" rIns="45720" bIns="45720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475569"/>
                </a:solidFill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현행 구성 변경 전에는 애플리케이션·운영·보안 담당자와 함께 검증하십시오.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073118411"/>
      </p:ext>
    </p:extLst>
  </p:cSld>
</p:sld>
</file>

<file path=ppt/theme/theme1.xml><?xml version="1.0" encoding="utf-8"?>
<a:theme xmlns:a="http://schemas.openxmlformats.org/drawingml/2006/main" name="OCI Arch Theme">
  <a:themeElements>
    <a:clrScheme name="OCI Arch">
      <a:dk1>
        <a:sysClr val="windowText" lastClr="000000"/>
      </a:dk1>
      <a:lt1>
        <a:sysClr val="window" lastClr="FFFFFF"/>
      </a:lt1>
      <a:dk2>
        <a:srgbClr val="1F2937"/>
      </a:dk2>
      <a:lt2>
        <a:srgbClr val="F8FAFC"/>
      </a:lt2>
      <a:accent1>
        <a:srgbClr val="C74634"/>
      </a:accent1>
      <a:accent2>
        <a:srgbClr val="1F4E79"/>
      </a:accent2>
      <a:accent3>
        <a:srgbClr val="2E7D32"/>
      </a:accent3>
      <a:accent4>
        <a:srgbClr val="AD6800"/>
      </a:accent4>
      <a:accent5>
        <a:srgbClr val="0E7490"/>
      </a:accent5>
      <a:accent6>
        <a:srgbClr val="7C3AED"/>
      </a:accent6>
      <a:hlink>
        <a:srgbClr val="2563EB"/>
      </a:hlink>
      <a:folHlink>
        <a:srgbClr val="9333EA"/>
      </a:folHlink>
    </a:clrScheme>
    <a:fontScheme name="OCI Arch">
      <a:majorFont>
        <a:latin typeface="Aptos Display"/>
        <a:ea typeface="Malgun Gothic"/>
        <a:cs typeface="Arial"/>
      </a:majorFont>
      <a:minorFont>
        <a:latin typeface="Aptos"/>
        <a:ea typeface="Malgun Gothic"/>
        <a:cs typeface="Arial"/>
      </a:minorFont>
    </a:fontScheme>
    <a:fmtScheme name="OCI Arch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</a:schemeClr>
            </a:gs>
            <a:gs pos="100000">
              <a:schemeClr val="phClr">
                <a:lumMod val="105000"/>
                <a:sat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8000"/>
                <a:satMod val="105000"/>
              </a:schemeClr>
            </a:gs>
            <a:gs pos="100000">
              <a:schemeClr val="phClr">
                <a:lumMod val="105000"/>
                <a:satMod val="103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2026-08-06T09:27:31.1570000Z</dcterms:created>
  <dcterms:modified xsi:type="dcterms:W3CDTF">2026-08-06T09:27:31.1570000Z</dcterms:modified>
</coreProperties>
</file>